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slideLayouts/slideLayout22.xml" ContentType="application/vnd.openxmlformats-officedocument.presentationml.slideLayout+xml"/>
  <Override PartName="/ppt/theme/theme6.xml" ContentType="application/vnd.openxmlformats-officedocument.theme+xml"/>
  <Override PartName="/ppt/slideLayouts/slideLayout23.xml" ContentType="application/vnd.openxmlformats-officedocument.presentationml.slideLayout+xml"/>
  <Override PartName="/ppt/theme/theme7.xml" ContentType="application/vnd.openxmlformats-officedocument.theme+xml"/>
  <Override PartName="/ppt/slideLayouts/slideLayout24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859" r:id="rId5"/>
    <p:sldMasterId id="2147483902" r:id="rId6"/>
    <p:sldMasterId id="2147483879" r:id="rId7"/>
    <p:sldMasterId id="2147483917" r:id="rId8"/>
    <p:sldMasterId id="2147483851" r:id="rId9"/>
    <p:sldMasterId id="2147483886" r:id="rId10"/>
    <p:sldMasterId id="2147483913" r:id="rId11"/>
  </p:sldMasterIdLst>
  <p:notesMasterIdLst>
    <p:notesMasterId r:id="rId37"/>
  </p:notesMasterIdLst>
  <p:sldIdLst>
    <p:sldId id="279" r:id="rId12"/>
    <p:sldId id="280" r:id="rId13"/>
    <p:sldId id="281" r:id="rId14"/>
    <p:sldId id="282" r:id="rId15"/>
    <p:sldId id="287" r:id="rId16"/>
    <p:sldId id="283" r:id="rId17"/>
    <p:sldId id="284" r:id="rId18"/>
    <p:sldId id="285" r:id="rId19"/>
    <p:sldId id="286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67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274" r:id="rId3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viewProps" Target="viewProps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C4FCFD-84BD-4706-B330-B4EF3BAD179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57D9AA2-C633-4837-AD10-356356E06306}">
      <dgm:prSet/>
      <dgm:spPr/>
      <dgm:t>
        <a:bodyPr/>
        <a:lstStyle/>
        <a:p>
          <a:r>
            <a:rPr lang="fr-FR" noProof="0"/>
            <a:t>Taux de TVA unique (20 %) sur toutes les factures </a:t>
          </a:r>
        </a:p>
      </dgm:t>
    </dgm:pt>
    <dgm:pt modelId="{90F150CC-205C-40E0-8E4A-5E64E349B18B}" type="parTrans" cxnId="{D0DC653E-0E65-4FC1-AD7B-27E42C4680D2}">
      <dgm:prSet/>
      <dgm:spPr/>
      <dgm:t>
        <a:bodyPr/>
        <a:lstStyle/>
        <a:p>
          <a:endParaRPr lang="en-US"/>
        </a:p>
      </dgm:t>
    </dgm:pt>
    <dgm:pt modelId="{4EC098D8-F967-4A8A-9BD9-BAA06FD15AB1}" type="sibTrans" cxnId="{D0DC653E-0E65-4FC1-AD7B-27E42C4680D2}">
      <dgm:prSet/>
      <dgm:spPr/>
      <dgm:t>
        <a:bodyPr/>
        <a:lstStyle/>
        <a:p>
          <a:endParaRPr lang="en-US"/>
        </a:p>
      </dgm:t>
    </dgm:pt>
    <dgm:pt modelId="{41148A4A-022F-4168-9E1D-90D14429122D}">
      <dgm:prSet/>
      <dgm:spPr/>
      <dgm:t>
        <a:bodyPr/>
        <a:lstStyle/>
        <a:p>
          <a:r>
            <a:rPr lang="fr-FR" noProof="0"/>
            <a:t>Réduction possible du TURPE (profil anticyclique, prévisible) </a:t>
          </a:r>
        </a:p>
      </dgm:t>
    </dgm:pt>
    <dgm:pt modelId="{E1190FEF-0ECD-4809-97EF-7D3F24C90595}" type="parTrans" cxnId="{D0116419-E340-4A60-B5F5-67965B28C771}">
      <dgm:prSet/>
      <dgm:spPr/>
      <dgm:t>
        <a:bodyPr/>
        <a:lstStyle/>
        <a:p>
          <a:endParaRPr lang="en-US"/>
        </a:p>
      </dgm:t>
    </dgm:pt>
    <dgm:pt modelId="{8AA9D900-1BE7-4D46-971C-8568C21A2311}" type="sibTrans" cxnId="{D0116419-E340-4A60-B5F5-67965B28C771}">
      <dgm:prSet/>
      <dgm:spPr/>
      <dgm:t>
        <a:bodyPr/>
        <a:lstStyle/>
        <a:p>
          <a:endParaRPr lang="en-US"/>
        </a:p>
      </dgm:t>
    </dgm:pt>
    <dgm:pt modelId="{E45DEA8C-2B44-4D24-BFFD-83D1A8CBFAC5}">
      <dgm:prSet/>
      <dgm:spPr/>
      <dgm:t>
        <a:bodyPr/>
        <a:lstStyle/>
        <a:p>
          <a:r>
            <a:rPr lang="fr-FR" noProof="0"/>
            <a:t>Réductions ou exonérations d’accise dans certains cas industriels </a:t>
          </a:r>
        </a:p>
      </dgm:t>
    </dgm:pt>
    <dgm:pt modelId="{A3071D32-009D-4F09-AB41-259ABC4529F3}" type="parTrans" cxnId="{D2705313-6E7D-48DF-9AEF-28325F2665E9}">
      <dgm:prSet/>
      <dgm:spPr/>
      <dgm:t>
        <a:bodyPr/>
        <a:lstStyle/>
        <a:p>
          <a:endParaRPr lang="en-US"/>
        </a:p>
      </dgm:t>
    </dgm:pt>
    <dgm:pt modelId="{F2FEEC86-C454-4555-87B6-1704F4422B7B}" type="sibTrans" cxnId="{D2705313-6E7D-48DF-9AEF-28325F2665E9}">
      <dgm:prSet/>
      <dgm:spPr/>
      <dgm:t>
        <a:bodyPr/>
        <a:lstStyle/>
        <a:p>
          <a:endParaRPr lang="en-US"/>
        </a:p>
      </dgm:t>
    </dgm:pt>
    <dgm:pt modelId="{5C0C699B-4BB0-4BDF-A642-DB98365CC8E4}" type="pres">
      <dgm:prSet presAssocID="{76C4FCFD-84BD-4706-B330-B4EF3BAD179C}" presName="linear" presStyleCnt="0">
        <dgm:presLayoutVars>
          <dgm:animLvl val="lvl"/>
          <dgm:resizeHandles val="exact"/>
        </dgm:presLayoutVars>
      </dgm:prSet>
      <dgm:spPr/>
    </dgm:pt>
    <dgm:pt modelId="{8903759F-2BB5-462F-A506-033D9F758BCA}" type="pres">
      <dgm:prSet presAssocID="{F57D9AA2-C633-4837-AD10-356356E0630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A03DCC0-1C11-49BD-9347-8E5415972715}" type="pres">
      <dgm:prSet presAssocID="{4EC098D8-F967-4A8A-9BD9-BAA06FD15AB1}" presName="spacer" presStyleCnt="0"/>
      <dgm:spPr/>
    </dgm:pt>
    <dgm:pt modelId="{D0E7AA85-7BBD-4E5C-82FE-A7FB4D3FCEEE}" type="pres">
      <dgm:prSet presAssocID="{41148A4A-022F-4168-9E1D-90D14429122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3189933-3CB4-4227-932F-FCF5FFB01D8D}" type="pres">
      <dgm:prSet presAssocID="{8AA9D900-1BE7-4D46-971C-8568C21A2311}" presName="spacer" presStyleCnt="0"/>
      <dgm:spPr/>
    </dgm:pt>
    <dgm:pt modelId="{48D61C01-5D32-4390-9A28-48535CE3BCE9}" type="pres">
      <dgm:prSet presAssocID="{E45DEA8C-2B44-4D24-BFFD-83D1A8CBFAC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2705313-6E7D-48DF-9AEF-28325F2665E9}" srcId="{76C4FCFD-84BD-4706-B330-B4EF3BAD179C}" destId="{E45DEA8C-2B44-4D24-BFFD-83D1A8CBFAC5}" srcOrd="2" destOrd="0" parTransId="{A3071D32-009D-4F09-AB41-259ABC4529F3}" sibTransId="{F2FEEC86-C454-4555-87B6-1704F4422B7B}"/>
    <dgm:cxn modelId="{D0116419-E340-4A60-B5F5-67965B28C771}" srcId="{76C4FCFD-84BD-4706-B330-B4EF3BAD179C}" destId="{41148A4A-022F-4168-9E1D-90D14429122D}" srcOrd="1" destOrd="0" parTransId="{E1190FEF-0ECD-4809-97EF-7D3F24C90595}" sibTransId="{8AA9D900-1BE7-4D46-971C-8568C21A2311}"/>
    <dgm:cxn modelId="{97DD1433-E866-478E-83CC-95949732BFBB}" type="presOf" srcId="{41148A4A-022F-4168-9E1D-90D14429122D}" destId="{D0E7AA85-7BBD-4E5C-82FE-A7FB4D3FCEEE}" srcOrd="0" destOrd="0" presId="urn:microsoft.com/office/officeart/2005/8/layout/vList2"/>
    <dgm:cxn modelId="{D0DC653E-0E65-4FC1-AD7B-27E42C4680D2}" srcId="{76C4FCFD-84BD-4706-B330-B4EF3BAD179C}" destId="{F57D9AA2-C633-4837-AD10-356356E06306}" srcOrd="0" destOrd="0" parTransId="{90F150CC-205C-40E0-8E4A-5E64E349B18B}" sibTransId="{4EC098D8-F967-4A8A-9BD9-BAA06FD15AB1}"/>
    <dgm:cxn modelId="{9F0E524D-41CA-4A67-A954-DB7ADE00647A}" type="presOf" srcId="{76C4FCFD-84BD-4706-B330-B4EF3BAD179C}" destId="{5C0C699B-4BB0-4BDF-A642-DB98365CC8E4}" srcOrd="0" destOrd="0" presId="urn:microsoft.com/office/officeart/2005/8/layout/vList2"/>
    <dgm:cxn modelId="{B56DFEC8-F968-4330-8D58-183A9F1DAECD}" type="presOf" srcId="{E45DEA8C-2B44-4D24-BFFD-83D1A8CBFAC5}" destId="{48D61C01-5D32-4390-9A28-48535CE3BCE9}" srcOrd="0" destOrd="0" presId="urn:microsoft.com/office/officeart/2005/8/layout/vList2"/>
    <dgm:cxn modelId="{8ED5B9FF-AC55-4CB1-9CA2-D67777B98ACA}" type="presOf" srcId="{F57D9AA2-C633-4837-AD10-356356E06306}" destId="{8903759F-2BB5-462F-A506-033D9F758BCA}" srcOrd="0" destOrd="0" presId="urn:microsoft.com/office/officeart/2005/8/layout/vList2"/>
    <dgm:cxn modelId="{291F3165-B3E8-4AE2-BC14-FDEDBF537D7A}" type="presParOf" srcId="{5C0C699B-4BB0-4BDF-A642-DB98365CC8E4}" destId="{8903759F-2BB5-462F-A506-033D9F758BCA}" srcOrd="0" destOrd="0" presId="urn:microsoft.com/office/officeart/2005/8/layout/vList2"/>
    <dgm:cxn modelId="{3C17D583-DE52-4C10-A10D-FF6AE70485B4}" type="presParOf" srcId="{5C0C699B-4BB0-4BDF-A642-DB98365CC8E4}" destId="{1A03DCC0-1C11-49BD-9347-8E5415972715}" srcOrd="1" destOrd="0" presId="urn:microsoft.com/office/officeart/2005/8/layout/vList2"/>
    <dgm:cxn modelId="{6070EA48-1CD9-4B00-91BE-8FABCD4EE3DF}" type="presParOf" srcId="{5C0C699B-4BB0-4BDF-A642-DB98365CC8E4}" destId="{D0E7AA85-7BBD-4E5C-82FE-A7FB4D3FCEEE}" srcOrd="2" destOrd="0" presId="urn:microsoft.com/office/officeart/2005/8/layout/vList2"/>
    <dgm:cxn modelId="{7A4553CF-33F7-40FF-9EAA-83F14054E210}" type="presParOf" srcId="{5C0C699B-4BB0-4BDF-A642-DB98365CC8E4}" destId="{83189933-3CB4-4227-932F-FCF5FFB01D8D}" srcOrd="3" destOrd="0" presId="urn:microsoft.com/office/officeart/2005/8/layout/vList2"/>
    <dgm:cxn modelId="{314F563E-46CF-49B9-AADC-C081BC701895}" type="presParOf" srcId="{5C0C699B-4BB0-4BDF-A642-DB98365CC8E4}" destId="{48D61C01-5D32-4390-9A28-48535CE3BCE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D28310-3ED0-49BE-90A9-A9CCBD7E656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07A2364-7BA0-4F5F-BA4E-575476D0023E}">
      <dgm:prSet/>
      <dgm:spPr/>
      <dgm:t>
        <a:bodyPr/>
        <a:lstStyle/>
        <a:p>
          <a:r>
            <a:rPr lang="fr-FR" noProof="0"/>
            <a:t>Ajuster la puissance souscrite </a:t>
          </a:r>
        </a:p>
      </dgm:t>
    </dgm:pt>
    <dgm:pt modelId="{AF55AF22-115A-4B35-A36D-2EBEA7D2985F}" type="parTrans" cxnId="{8360D57C-49C9-4CAD-89B5-80922F3C2913}">
      <dgm:prSet/>
      <dgm:spPr/>
      <dgm:t>
        <a:bodyPr/>
        <a:lstStyle/>
        <a:p>
          <a:endParaRPr lang="en-US"/>
        </a:p>
      </dgm:t>
    </dgm:pt>
    <dgm:pt modelId="{2BD2546B-4F89-473B-82A9-A599A3A7F9A5}" type="sibTrans" cxnId="{8360D57C-49C9-4CAD-89B5-80922F3C2913}">
      <dgm:prSet/>
      <dgm:spPr/>
      <dgm:t>
        <a:bodyPr/>
        <a:lstStyle/>
        <a:p>
          <a:endParaRPr lang="en-US"/>
        </a:p>
      </dgm:t>
    </dgm:pt>
    <dgm:pt modelId="{214B36BE-9153-4BAE-937E-BFD201B82E9D}">
      <dgm:prSet/>
      <dgm:spPr/>
      <dgm:t>
        <a:bodyPr/>
        <a:lstStyle/>
        <a:p>
          <a:r>
            <a:rPr lang="fr-FR" noProof="0"/>
            <a:t>Utiliser les heures creuses </a:t>
          </a:r>
        </a:p>
      </dgm:t>
    </dgm:pt>
    <dgm:pt modelId="{4D99CC2B-A6BA-42B4-B7B2-B86E17425560}" type="parTrans" cxnId="{822DE57F-7925-48E7-AA04-E62AC379A5AB}">
      <dgm:prSet/>
      <dgm:spPr/>
      <dgm:t>
        <a:bodyPr/>
        <a:lstStyle/>
        <a:p>
          <a:endParaRPr lang="en-US"/>
        </a:p>
      </dgm:t>
    </dgm:pt>
    <dgm:pt modelId="{72FCD1D8-E0D2-454D-9F33-C97417030903}" type="sibTrans" cxnId="{822DE57F-7925-48E7-AA04-E62AC379A5AB}">
      <dgm:prSet/>
      <dgm:spPr/>
      <dgm:t>
        <a:bodyPr/>
        <a:lstStyle/>
        <a:p>
          <a:endParaRPr lang="en-US"/>
        </a:p>
      </dgm:t>
    </dgm:pt>
    <dgm:pt modelId="{08093607-8CDF-4A96-9E63-DF1B7382B59E}">
      <dgm:prSet/>
      <dgm:spPr/>
      <dgm:t>
        <a:bodyPr/>
        <a:lstStyle/>
        <a:p>
          <a:r>
            <a:rPr lang="fr-FR" noProof="0"/>
            <a:t>Suivre sa consommation </a:t>
          </a:r>
        </a:p>
      </dgm:t>
    </dgm:pt>
    <dgm:pt modelId="{4C6979EE-A5EA-44F2-9E93-567B16F89601}" type="parTrans" cxnId="{348BF380-C94E-455B-8BA7-1EC579708D3A}">
      <dgm:prSet/>
      <dgm:spPr/>
      <dgm:t>
        <a:bodyPr/>
        <a:lstStyle/>
        <a:p>
          <a:endParaRPr lang="en-US"/>
        </a:p>
      </dgm:t>
    </dgm:pt>
    <dgm:pt modelId="{35D9EEC2-7D7C-4D52-9542-152CEEF29548}" type="sibTrans" cxnId="{348BF380-C94E-455B-8BA7-1EC579708D3A}">
      <dgm:prSet/>
      <dgm:spPr/>
      <dgm:t>
        <a:bodyPr/>
        <a:lstStyle/>
        <a:p>
          <a:endParaRPr lang="en-US"/>
        </a:p>
      </dgm:t>
    </dgm:pt>
    <dgm:pt modelId="{9EFBBF20-89B5-4E17-80AF-73DF8387E2C4}">
      <dgm:prSet/>
      <dgm:spPr/>
      <dgm:t>
        <a:bodyPr/>
        <a:lstStyle/>
        <a:p>
          <a:r>
            <a:rPr lang="fr-FR" noProof="0"/>
            <a:t>Vérifier les exonérations possibles </a:t>
          </a:r>
        </a:p>
      </dgm:t>
    </dgm:pt>
    <dgm:pt modelId="{18B2B937-F679-4820-B503-98CF3C234155}" type="parTrans" cxnId="{87E3EA47-93AC-4FB9-8B97-F5248422A195}">
      <dgm:prSet/>
      <dgm:spPr/>
      <dgm:t>
        <a:bodyPr/>
        <a:lstStyle/>
        <a:p>
          <a:endParaRPr lang="en-US"/>
        </a:p>
      </dgm:t>
    </dgm:pt>
    <dgm:pt modelId="{8038E958-C546-4E4C-8BF4-F9E28DA03C41}" type="sibTrans" cxnId="{87E3EA47-93AC-4FB9-8B97-F5248422A195}">
      <dgm:prSet/>
      <dgm:spPr/>
      <dgm:t>
        <a:bodyPr/>
        <a:lstStyle/>
        <a:p>
          <a:endParaRPr lang="en-US"/>
        </a:p>
      </dgm:t>
    </dgm:pt>
    <dgm:pt modelId="{58A493B9-BDF9-4104-AF58-64EF00BF62DA}">
      <dgm:prSet/>
      <dgm:spPr/>
      <dgm:t>
        <a:bodyPr/>
        <a:lstStyle/>
        <a:p>
          <a:r>
            <a:rPr lang="fr-FR" noProof="0"/>
            <a:t>Utiliser des comparateurs </a:t>
          </a:r>
        </a:p>
      </dgm:t>
    </dgm:pt>
    <dgm:pt modelId="{D273C96E-814A-4D32-ADC0-003A0D4ACA97}" type="parTrans" cxnId="{86B0E7B4-9F0F-47F5-8923-D4B9F17A2551}">
      <dgm:prSet/>
      <dgm:spPr/>
      <dgm:t>
        <a:bodyPr/>
        <a:lstStyle/>
        <a:p>
          <a:endParaRPr lang="en-US"/>
        </a:p>
      </dgm:t>
    </dgm:pt>
    <dgm:pt modelId="{F04BB6A0-5D07-4716-9E18-D68AFCB55C4A}" type="sibTrans" cxnId="{86B0E7B4-9F0F-47F5-8923-D4B9F17A2551}">
      <dgm:prSet/>
      <dgm:spPr/>
      <dgm:t>
        <a:bodyPr/>
        <a:lstStyle/>
        <a:p>
          <a:endParaRPr lang="en-US"/>
        </a:p>
      </dgm:t>
    </dgm:pt>
    <dgm:pt modelId="{A50E5E35-8927-4267-8BC6-CDE274811E44}">
      <dgm:prSet/>
      <dgm:spPr/>
      <dgm:t>
        <a:bodyPr/>
        <a:lstStyle/>
        <a:p>
          <a:r>
            <a:rPr lang="fr-FR" noProof="0"/>
            <a:t>Explorer l’autoconsommation / stockage.</a:t>
          </a:r>
        </a:p>
      </dgm:t>
    </dgm:pt>
    <dgm:pt modelId="{C6E8B57B-C56D-484A-89FA-5476EEE52DAA}" type="parTrans" cxnId="{0C7D410C-57C0-4CFE-ABCC-66772D9627F1}">
      <dgm:prSet/>
      <dgm:spPr/>
      <dgm:t>
        <a:bodyPr/>
        <a:lstStyle/>
        <a:p>
          <a:endParaRPr lang="en-US"/>
        </a:p>
      </dgm:t>
    </dgm:pt>
    <dgm:pt modelId="{1105DA8C-BC91-4807-9841-16704EC89573}" type="sibTrans" cxnId="{0C7D410C-57C0-4CFE-ABCC-66772D9627F1}">
      <dgm:prSet/>
      <dgm:spPr/>
      <dgm:t>
        <a:bodyPr/>
        <a:lstStyle/>
        <a:p>
          <a:endParaRPr lang="en-US"/>
        </a:p>
      </dgm:t>
    </dgm:pt>
    <dgm:pt modelId="{669C82C6-B893-4254-A676-E73FE9597C61}" type="pres">
      <dgm:prSet presAssocID="{C9D28310-3ED0-49BE-90A9-A9CCBD7E6568}" presName="diagram" presStyleCnt="0">
        <dgm:presLayoutVars>
          <dgm:dir/>
          <dgm:resizeHandles val="exact"/>
        </dgm:presLayoutVars>
      </dgm:prSet>
      <dgm:spPr/>
    </dgm:pt>
    <dgm:pt modelId="{129D4830-C8CC-4DA9-BE58-B15380E4C540}" type="pres">
      <dgm:prSet presAssocID="{F07A2364-7BA0-4F5F-BA4E-575476D0023E}" presName="node" presStyleLbl="node1" presStyleIdx="0" presStyleCnt="6">
        <dgm:presLayoutVars>
          <dgm:bulletEnabled val="1"/>
        </dgm:presLayoutVars>
      </dgm:prSet>
      <dgm:spPr/>
    </dgm:pt>
    <dgm:pt modelId="{D4F5A614-6C3F-4E67-9940-DFE8348243BE}" type="pres">
      <dgm:prSet presAssocID="{2BD2546B-4F89-473B-82A9-A599A3A7F9A5}" presName="sibTrans" presStyleCnt="0"/>
      <dgm:spPr/>
    </dgm:pt>
    <dgm:pt modelId="{7804EE62-3A6D-42CD-A221-EE1335340B8C}" type="pres">
      <dgm:prSet presAssocID="{214B36BE-9153-4BAE-937E-BFD201B82E9D}" presName="node" presStyleLbl="node1" presStyleIdx="1" presStyleCnt="6">
        <dgm:presLayoutVars>
          <dgm:bulletEnabled val="1"/>
        </dgm:presLayoutVars>
      </dgm:prSet>
      <dgm:spPr/>
    </dgm:pt>
    <dgm:pt modelId="{2C863E2E-60EF-4C2A-A4BA-73970AB823FF}" type="pres">
      <dgm:prSet presAssocID="{72FCD1D8-E0D2-454D-9F33-C97417030903}" presName="sibTrans" presStyleCnt="0"/>
      <dgm:spPr/>
    </dgm:pt>
    <dgm:pt modelId="{36A1ABEA-8D95-4B21-8D89-58FBF432FB30}" type="pres">
      <dgm:prSet presAssocID="{08093607-8CDF-4A96-9E63-DF1B7382B59E}" presName="node" presStyleLbl="node1" presStyleIdx="2" presStyleCnt="6">
        <dgm:presLayoutVars>
          <dgm:bulletEnabled val="1"/>
        </dgm:presLayoutVars>
      </dgm:prSet>
      <dgm:spPr/>
    </dgm:pt>
    <dgm:pt modelId="{7B5E2C90-B59D-4486-B104-36C2119D3FBB}" type="pres">
      <dgm:prSet presAssocID="{35D9EEC2-7D7C-4D52-9542-152CEEF29548}" presName="sibTrans" presStyleCnt="0"/>
      <dgm:spPr/>
    </dgm:pt>
    <dgm:pt modelId="{8D799B82-A8A4-4D6F-ABE3-F397EA6594FD}" type="pres">
      <dgm:prSet presAssocID="{9EFBBF20-89B5-4E17-80AF-73DF8387E2C4}" presName="node" presStyleLbl="node1" presStyleIdx="3" presStyleCnt="6">
        <dgm:presLayoutVars>
          <dgm:bulletEnabled val="1"/>
        </dgm:presLayoutVars>
      </dgm:prSet>
      <dgm:spPr/>
    </dgm:pt>
    <dgm:pt modelId="{67BE8807-1CCC-4215-8A2F-0EB38A2F2DED}" type="pres">
      <dgm:prSet presAssocID="{8038E958-C546-4E4C-8BF4-F9E28DA03C41}" presName="sibTrans" presStyleCnt="0"/>
      <dgm:spPr/>
    </dgm:pt>
    <dgm:pt modelId="{F286A250-21F1-4A01-9EA2-644D802551B4}" type="pres">
      <dgm:prSet presAssocID="{58A493B9-BDF9-4104-AF58-64EF00BF62DA}" presName="node" presStyleLbl="node1" presStyleIdx="4" presStyleCnt="6">
        <dgm:presLayoutVars>
          <dgm:bulletEnabled val="1"/>
        </dgm:presLayoutVars>
      </dgm:prSet>
      <dgm:spPr/>
    </dgm:pt>
    <dgm:pt modelId="{36A94004-7B35-44EA-961A-9D0C6D065BE8}" type="pres">
      <dgm:prSet presAssocID="{F04BB6A0-5D07-4716-9E18-D68AFCB55C4A}" presName="sibTrans" presStyleCnt="0"/>
      <dgm:spPr/>
    </dgm:pt>
    <dgm:pt modelId="{39ECC2DC-76AA-4744-96CF-403CE6E6E3F2}" type="pres">
      <dgm:prSet presAssocID="{A50E5E35-8927-4267-8BC6-CDE274811E44}" presName="node" presStyleLbl="node1" presStyleIdx="5" presStyleCnt="6">
        <dgm:presLayoutVars>
          <dgm:bulletEnabled val="1"/>
        </dgm:presLayoutVars>
      </dgm:prSet>
      <dgm:spPr/>
    </dgm:pt>
  </dgm:ptLst>
  <dgm:cxnLst>
    <dgm:cxn modelId="{0C7D410C-57C0-4CFE-ABCC-66772D9627F1}" srcId="{C9D28310-3ED0-49BE-90A9-A9CCBD7E6568}" destId="{A50E5E35-8927-4267-8BC6-CDE274811E44}" srcOrd="5" destOrd="0" parTransId="{C6E8B57B-C56D-484A-89FA-5476EEE52DAA}" sibTransId="{1105DA8C-BC91-4807-9841-16704EC89573}"/>
    <dgm:cxn modelId="{87E3EA47-93AC-4FB9-8B97-F5248422A195}" srcId="{C9D28310-3ED0-49BE-90A9-A9CCBD7E6568}" destId="{9EFBBF20-89B5-4E17-80AF-73DF8387E2C4}" srcOrd="3" destOrd="0" parTransId="{18B2B937-F679-4820-B503-98CF3C234155}" sibTransId="{8038E958-C546-4E4C-8BF4-F9E28DA03C41}"/>
    <dgm:cxn modelId="{C5BECA71-5DAE-447B-9435-E48C54BC08DE}" type="presOf" srcId="{9EFBBF20-89B5-4E17-80AF-73DF8387E2C4}" destId="{8D799B82-A8A4-4D6F-ABE3-F397EA6594FD}" srcOrd="0" destOrd="0" presId="urn:microsoft.com/office/officeart/2005/8/layout/default"/>
    <dgm:cxn modelId="{BE1F3954-0278-4ED2-A1F0-08C2165F8984}" type="presOf" srcId="{F07A2364-7BA0-4F5F-BA4E-575476D0023E}" destId="{129D4830-C8CC-4DA9-BE58-B15380E4C540}" srcOrd="0" destOrd="0" presId="urn:microsoft.com/office/officeart/2005/8/layout/default"/>
    <dgm:cxn modelId="{8360D57C-49C9-4CAD-89B5-80922F3C2913}" srcId="{C9D28310-3ED0-49BE-90A9-A9CCBD7E6568}" destId="{F07A2364-7BA0-4F5F-BA4E-575476D0023E}" srcOrd="0" destOrd="0" parTransId="{AF55AF22-115A-4B35-A36D-2EBEA7D2985F}" sibTransId="{2BD2546B-4F89-473B-82A9-A599A3A7F9A5}"/>
    <dgm:cxn modelId="{822DE57F-7925-48E7-AA04-E62AC379A5AB}" srcId="{C9D28310-3ED0-49BE-90A9-A9CCBD7E6568}" destId="{214B36BE-9153-4BAE-937E-BFD201B82E9D}" srcOrd="1" destOrd="0" parTransId="{4D99CC2B-A6BA-42B4-B7B2-B86E17425560}" sibTransId="{72FCD1D8-E0D2-454D-9F33-C97417030903}"/>
    <dgm:cxn modelId="{348BF380-C94E-455B-8BA7-1EC579708D3A}" srcId="{C9D28310-3ED0-49BE-90A9-A9CCBD7E6568}" destId="{08093607-8CDF-4A96-9E63-DF1B7382B59E}" srcOrd="2" destOrd="0" parTransId="{4C6979EE-A5EA-44F2-9E93-567B16F89601}" sibTransId="{35D9EEC2-7D7C-4D52-9542-152CEEF29548}"/>
    <dgm:cxn modelId="{FE07C194-8ED2-4E0D-8C59-4DDD384B79FF}" type="presOf" srcId="{58A493B9-BDF9-4104-AF58-64EF00BF62DA}" destId="{F286A250-21F1-4A01-9EA2-644D802551B4}" srcOrd="0" destOrd="0" presId="urn:microsoft.com/office/officeart/2005/8/layout/default"/>
    <dgm:cxn modelId="{86B0E7B4-9F0F-47F5-8923-D4B9F17A2551}" srcId="{C9D28310-3ED0-49BE-90A9-A9CCBD7E6568}" destId="{58A493B9-BDF9-4104-AF58-64EF00BF62DA}" srcOrd="4" destOrd="0" parTransId="{D273C96E-814A-4D32-ADC0-003A0D4ACA97}" sibTransId="{F04BB6A0-5D07-4716-9E18-D68AFCB55C4A}"/>
    <dgm:cxn modelId="{D73E6EB8-F91B-47FC-9DBE-4C0FFDA3D249}" type="presOf" srcId="{08093607-8CDF-4A96-9E63-DF1B7382B59E}" destId="{36A1ABEA-8D95-4B21-8D89-58FBF432FB30}" srcOrd="0" destOrd="0" presId="urn:microsoft.com/office/officeart/2005/8/layout/default"/>
    <dgm:cxn modelId="{B69E95BE-0B6D-490C-9E4E-6F723FE8BCF2}" type="presOf" srcId="{A50E5E35-8927-4267-8BC6-CDE274811E44}" destId="{39ECC2DC-76AA-4744-96CF-403CE6E6E3F2}" srcOrd="0" destOrd="0" presId="urn:microsoft.com/office/officeart/2005/8/layout/default"/>
    <dgm:cxn modelId="{888F19D4-F9CA-4DBF-B891-CFDA84469222}" type="presOf" srcId="{214B36BE-9153-4BAE-937E-BFD201B82E9D}" destId="{7804EE62-3A6D-42CD-A221-EE1335340B8C}" srcOrd="0" destOrd="0" presId="urn:microsoft.com/office/officeart/2005/8/layout/default"/>
    <dgm:cxn modelId="{0D4976E0-BE26-46D2-84B0-9889207A219D}" type="presOf" srcId="{C9D28310-3ED0-49BE-90A9-A9CCBD7E6568}" destId="{669C82C6-B893-4254-A676-E73FE9597C61}" srcOrd="0" destOrd="0" presId="urn:microsoft.com/office/officeart/2005/8/layout/default"/>
    <dgm:cxn modelId="{5B12BCC0-7DCC-40A2-8922-3B4EC66AC438}" type="presParOf" srcId="{669C82C6-B893-4254-A676-E73FE9597C61}" destId="{129D4830-C8CC-4DA9-BE58-B15380E4C540}" srcOrd="0" destOrd="0" presId="urn:microsoft.com/office/officeart/2005/8/layout/default"/>
    <dgm:cxn modelId="{2DE03B80-8761-4E23-84BD-3E7C6A320341}" type="presParOf" srcId="{669C82C6-B893-4254-A676-E73FE9597C61}" destId="{D4F5A614-6C3F-4E67-9940-DFE8348243BE}" srcOrd="1" destOrd="0" presId="urn:microsoft.com/office/officeart/2005/8/layout/default"/>
    <dgm:cxn modelId="{CABA516D-59A3-47A7-8424-D1A4AFB03222}" type="presParOf" srcId="{669C82C6-B893-4254-A676-E73FE9597C61}" destId="{7804EE62-3A6D-42CD-A221-EE1335340B8C}" srcOrd="2" destOrd="0" presId="urn:microsoft.com/office/officeart/2005/8/layout/default"/>
    <dgm:cxn modelId="{1388389D-66F0-4998-BB51-F5C58B0A47FC}" type="presParOf" srcId="{669C82C6-B893-4254-A676-E73FE9597C61}" destId="{2C863E2E-60EF-4C2A-A4BA-73970AB823FF}" srcOrd="3" destOrd="0" presId="urn:microsoft.com/office/officeart/2005/8/layout/default"/>
    <dgm:cxn modelId="{C8213026-8806-44CC-AB5F-EEF9A7337264}" type="presParOf" srcId="{669C82C6-B893-4254-A676-E73FE9597C61}" destId="{36A1ABEA-8D95-4B21-8D89-58FBF432FB30}" srcOrd="4" destOrd="0" presId="urn:microsoft.com/office/officeart/2005/8/layout/default"/>
    <dgm:cxn modelId="{DD5CB6D4-302C-4A5A-864F-365BF148B4DB}" type="presParOf" srcId="{669C82C6-B893-4254-A676-E73FE9597C61}" destId="{7B5E2C90-B59D-4486-B104-36C2119D3FBB}" srcOrd="5" destOrd="0" presId="urn:microsoft.com/office/officeart/2005/8/layout/default"/>
    <dgm:cxn modelId="{027D40F8-CC6B-4167-8D99-07B412E1AF61}" type="presParOf" srcId="{669C82C6-B893-4254-A676-E73FE9597C61}" destId="{8D799B82-A8A4-4D6F-ABE3-F397EA6594FD}" srcOrd="6" destOrd="0" presId="urn:microsoft.com/office/officeart/2005/8/layout/default"/>
    <dgm:cxn modelId="{ECA8CA8D-1D70-49C9-ACA4-6D04A64828DB}" type="presParOf" srcId="{669C82C6-B893-4254-A676-E73FE9597C61}" destId="{67BE8807-1CCC-4215-8A2F-0EB38A2F2DED}" srcOrd="7" destOrd="0" presId="urn:microsoft.com/office/officeart/2005/8/layout/default"/>
    <dgm:cxn modelId="{010AD640-C6CF-47BC-8B99-B5752ADB8FAA}" type="presParOf" srcId="{669C82C6-B893-4254-A676-E73FE9597C61}" destId="{F286A250-21F1-4A01-9EA2-644D802551B4}" srcOrd="8" destOrd="0" presId="urn:microsoft.com/office/officeart/2005/8/layout/default"/>
    <dgm:cxn modelId="{07031AAA-3127-46FC-AA1D-90EB300D600E}" type="presParOf" srcId="{669C82C6-B893-4254-A676-E73FE9597C61}" destId="{36A94004-7B35-44EA-961A-9D0C6D065BE8}" srcOrd="9" destOrd="0" presId="urn:microsoft.com/office/officeart/2005/8/layout/default"/>
    <dgm:cxn modelId="{A9279489-4E98-4D4E-B08A-189470F38209}" type="presParOf" srcId="{669C82C6-B893-4254-A676-E73FE9597C61}" destId="{39ECC2DC-76AA-4744-96CF-403CE6E6E3F2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00DFD6-303D-49EB-9F97-54AAD987FB1C}" type="doc">
      <dgm:prSet loTypeId="urn:microsoft.com/office/officeart/2005/8/layout/hierarchy1" loCatId="hierarchy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3EBF82C-858F-4354-A675-80BFE7EDD691}">
      <dgm:prSet/>
      <dgm:spPr/>
      <dgm:t>
        <a:bodyPr/>
        <a:lstStyle/>
        <a:p>
          <a:r>
            <a:rPr lang="fr-FR" noProof="0" dirty="0"/>
            <a:t>Décomposition d’une facture : énergie / réseau / taxes. </a:t>
          </a:r>
        </a:p>
      </dgm:t>
    </dgm:pt>
    <dgm:pt modelId="{E19B8055-D14B-4B65-819E-B5BE3558CE0F}" type="parTrans" cxnId="{207B6B39-8998-466E-BF88-4592BA7146F7}">
      <dgm:prSet/>
      <dgm:spPr/>
      <dgm:t>
        <a:bodyPr/>
        <a:lstStyle/>
        <a:p>
          <a:endParaRPr lang="en-US"/>
        </a:p>
      </dgm:t>
    </dgm:pt>
    <dgm:pt modelId="{6DEFE956-7210-4E89-8F1E-F20C6CDFF4B4}" type="sibTrans" cxnId="{207B6B39-8998-466E-BF88-4592BA7146F7}">
      <dgm:prSet/>
      <dgm:spPr/>
      <dgm:t>
        <a:bodyPr/>
        <a:lstStyle/>
        <a:p>
          <a:endParaRPr lang="en-US"/>
        </a:p>
      </dgm:t>
    </dgm:pt>
    <dgm:pt modelId="{D05E7CFE-BF29-4AF1-BE42-948E2646B036}">
      <dgm:prSet/>
      <dgm:spPr/>
      <dgm:t>
        <a:bodyPr/>
        <a:lstStyle/>
        <a:p>
          <a:r>
            <a:rPr lang="fr-FR" noProof="0"/>
            <a:t>Cas pratiques d’analyse et d’optimisation. </a:t>
          </a:r>
        </a:p>
      </dgm:t>
    </dgm:pt>
    <dgm:pt modelId="{1B5A3490-86A1-405A-8665-FD3FBBEE3E79}" type="parTrans" cxnId="{3CD455B8-909A-49C9-8D7F-F8607348154B}">
      <dgm:prSet/>
      <dgm:spPr/>
      <dgm:t>
        <a:bodyPr/>
        <a:lstStyle/>
        <a:p>
          <a:endParaRPr lang="en-US"/>
        </a:p>
      </dgm:t>
    </dgm:pt>
    <dgm:pt modelId="{B9BB0739-1370-4C32-AA53-2D0B18399CFF}" type="sibTrans" cxnId="{3CD455B8-909A-49C9-8D7F-F8607348154B}">
      <dgm:prSet/>
      <dgm:spPr/>
      <dgm:t>
        <a:bodyPr/>
        <a:lstStyle/>
        <a:p>
          <a:endParaRPr lang="en-US"/>
        </a:p>
      </dgm:t>
    </dgm:pt>
    <dgm:pt modelId="{42184086-6DCF-426D-9A61-F0DC8D936667}">
      <dgm:prSet/>
      <dgm:spPr/>
      <dgm:t>
        <a:bodyPr/>
        <a:lstStyle/>
        <a:p>
          <a:r>
            <a:rPr lang="fr-FR" noProof="0" dirty="0"/>
            <a:t>Spécificités industrielles et évolutions réglementaires. </a:t>
          </a:r>
        </a:p>
      </dgm:t>
    </dgm:pt>
    <dgm:pt modelId="{A697BE11-1A6C-4D9B-B6E6-6BEA92D38D77}" type="parTrans" cxnId="{9A4D00E1-1E91-4AA2-B6D8-DF79FCACB50C}">
      <dgm:prSet/>
      <dgm:spPr/>
      <dgm:t>
        <a:bodyPr/>
        <a:lstStyle/>
        <a:p>
          <a:endParaRPr lang="en-US"/>
        </a:p>
      </dgm:t>
    </dgm:pt>
    <dgm:pt modelId="{C1A55863-2F4F-494B-B651-320544166E46}" type="sibTrans" cxnId="{9A4D00E1-1E91-4AA2-B6D8-DF79FCACB50C}">
      <dgm:prSet/>
      <dgm:spPr/>
      <dgm:t>
        <a:bodyPr/>
        <a:lstStyle/>
        <a:p>
          <a:endParaRPr lang="en-US"/>
        </a:p>
      </dgm:t>
    </dgm:pt>
    <dgm:pt modelId="{CDAA0AB3-6E70-46B9-B23F-763D6EA3FDF8}" type="pres">
      <dgm:prSet presAssocID="{ED00DFD6-303D-49EB-9F97-54AAD987FB1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9437CE8-F68B-4732-AD47-BE0AF7CE4C74}" type="pres">
      <dgm:prSet presAssocID="{13EBF82C-858F-4354-A675-80BFE7EDD691}" presName="hierRoot1" presStyleCnt="0"/>
      <dgm:spPr/>
    </dgm:pt>
    <dgm:pt modelId="{8EB550FC-E6DF-483D-A9D4-D9227F39EEB4}" type="pres">
      <dgm:prSet presAssocID="{13EBF82C-858F-4354-A675-80BFE7EDD691}" presName="composite" presStyleCnt="0"/>
      <dgm:spPr/>
    </dgm:pt>
    <dgm:pt modelId="{6905159C-92B8-4580-964D-E11861DE4C50}" type="pres">
      <dgm:prSet presAssocID="{13EBF82C-858F-4354-A675-80BFE7EDD691}" presName="background" presStyleLbl="node0" presStyleIdx="0" presStyleCnt="3"/>
      <dgm:spPr/>
    </dgm:pt>
    <dgm:pt modelId="{1995AFB2-A8E0-4386-A6DF-8FA0F90F4296}" type="pres">
      <dgm:prSet presAssocID="{13EBF82C-858F-4354-A675-80BFE7EDD691}" presName="text" presStyleLbl="fgAcc0" presStyleIdx="0" presStyleCnt="3">
        <dgm:presLayoutVars>
          <dgm:chPref val="3"/>
        </dgm:presLayoutVars>
      </dgm:prSet>
      <dgm:spPr/>
    </dgm:pt>
    <dgm:pt modelId="{629437F2-9D9A-4CE8-8BDD-644BAF136FCA}" type="pres">
      <dgm:prSet presAssocID="{13EBF82C-858F-4354-A675-80BFE7EDD691}" presName="hierChild2" presStyleCnt="0"/>
      <dgm:spPr/>
    </dgm:pt>
    <dgm:pt modelId="{4FE8DED8-7F8A-47E2-B5CC-C1A0E67DE998}" type="pres">
      <dgm:prSet presAssocID="{D05E7CFE-BF29-4AF1-BE42-948E2646B036}" presName="hierRoot1" presStyleCnt="0"/>
      <dgm:spPr/>
    </dgm:pt>
    <dgm:pt modelId="{A8FDD50D-E7F9-402E-B53F-D436158A5C1E}" type="pres">
      <dgm:prSet presAssocID="{D05E7CFE-BF29-4AF1-BE42-948E2646B036}" presName="composite" presStyleCnt="0"/>
      <dgm:spPr/>
    </dgm:pt>
    <dgm:pt modelId="{5BC7EFB6-197F-4465-9F01-B14171F19251}" type="pres">
      <dgm:prSet presAssocID="{D05E7CFE-BF29-4AF1-BE42-948E2646B036}" presName="background" presStyleLbl="node0" presStyleIdx="1" presStyleCnt="3"/>
      <dgm:spPr/>
    </dgm:pt>
    <dgm:pt modelId="{651A3EC9-FA12-40D7-908A-9D7B49C0B903}" type="pres">
      <dgm:prSet presAssocID="{D05E7CFE-BF29-4AF1-BE42-948E2646B036}" presName="text" presStyleLbl="fgAcc0" presStyleIdx="1" presStyleCnt="3">
        <dgm:presLayoutVars>
          <dgm:chPref val="3"/>
        </dgm:presLayoutVars>
      </dgm:prSet>
      <dgm:spPr/>
    </dgm:pt>
    <dgm:pt modelId="{01CF3E96-F6EB-4F4E-AC09-03C96E64AFFB}" type="pres">
      <dgm:prSet presAssocID="{D05E7CFE-BF29-4AF1-BE42-948E2646B036}" presName="hierChild2" presStyleCnt="0"/>
      <dgm:spPr/>
    </dgm:pt>
    <dgm:pt modelId="{5A03810D-A7A7-45D5-AFFE-376E6A4FDED0}" type="pres">
      <dgm:prSet presAssocID="{42184086-6DCF-426D-9A61-F0DC8D936667}" presName="hierRoot1" presStyleCnt="0"/>
      <dgm:spPr/>
    </dgm:pt>
    <dgm:pt modelId="{B20282EB-2E98-49B0-B1CD-4C81FAA3CB8F}" type="pres">
      <dgm:prSet presAssocID="{42184086-6DCF-426D-9A61-F0DC8D936667}" presName="composite" presStyleCnt="0"/>
      <dgm:spPr/>
    </dgm:pt>
    <dgm:pt modelId="{E53EB046-A0F9-4DC8-B6CD-C52387152999}" type="pres">
      <dgm:prSet presAssocID="{42184086-6DCF-426D-9A61-F0DC8D936667}" presName="background" presStyleLbl="node0" presStyleIdx="2" presStyleCnt="3"/>
      <dgm:spPr/>
    </dgm:pt>
    <dgm:pt modelId="{8442EC10-7CB0-44F4-B544-81B3A06C2103}" type="pres">
      <dgm:prSet presAssocID="{42184086-6DCF-426D-9A61-F0DC8D936667}" presName="text" presStyleLbl="fgAcc0" presStyleIdx="2" presStyleCnt="3">
        <dgm:presLayoutVars>
          <dgm:chPref val="3"/>
        </dgm:presLayoutVars>
      </dgm:prSet>
      <dgm:spPr/>
    </dgm:pt>
    <dgm:pt modelId="{EE592E87-4D85-408D-A3DB-98DE59A695F3}" type="pres">
      <dgm:prSet presAssocID="{42184086-6DCF-426D-9A61-F0DC8D936667}" presName="hierChild2" presStyleCnt="0"/>
      <dgm:spPr/>
    </dgm:pt>
  </dgm:ptLst>
  <dgm:cxnLst>
    <dgm:cxn modelId="{79889430-A0F7-489A-BEE3-1149193A41B4}" type="presOf" srcId="{D05E7CFE-BF29-4AF1-BE42-948E2646B036}" destId="{651A3EC9-FA12-40D7-908A-9D7B49C0B903}" srcOrd="0" destOrd="0" presId="urn:microsoft.com/office/officeart/2005/8/layout/hierarchy1"/>
    <dgm:cxn modelId="{207B6B39-8998-466E-BF88-4592BA7146F7}" srcId="{ED00DFD6-303D-49EB-9F97-54AAD987FB1C}" destId="{13EBF82C-858F-4354-A675-80BFE7EDD691}" srcOrd="0" destOrd="0" parTransId="{E19B8055-D14B-4B65-819E-B5BE3558CE0F}" sibTransId="{6DEFE956-7210-4E89-8F1E-F20C6CDFF4B4}"/>
    <dgm:cxn modelId="{A2E68642-913D-45EB-AD22-68D110B626B1}" type="presOf" srcId="{13EBF82C-858F-4354-A675-80BFE7EDD691}" destId="{1995AFB2-A8E0-4386-A6DF-8FA0F90F4296}" srcOrd="0" destOrd="0" presId="urn:microsoft.com/office/officeart/2005/8/layout/hierarchy1"/>
    <dgm:cxn modelId="{CBFC724C-090E-47BF-B59E-572606AC424B}" type="presOf" srcId="{42184086-6DCF-426D-9A61-F0DC8D936667}" destId="{8442EC10-7CB0-44F4-B544-81B3A06C2103}" srcOrd="0" destOrd="0" presId="urn:microsoft.com/office/officeart/2005/8/layout/hierarchy1"/>
    <dgm:cxn modelId="{93722784-B6B8-48D4-A0E3-78790298658D}" type="presOf" srcId="{ED00DFD6-303D-49EB-9F97-54AAD987FB1C}" destId="{CDAA0AB3-6E70-46B9-B23F-763D6EA3FDF8}" srcOrd="0" destOrd="0" presId="urn:microsoft.com/office/officeart/2005/8/layout/hierarchy1"/>
    <dgm:cxn modelId="{3CD455B8-909A-49C9-8D7F-F8607348154B}" srcId="{ED00DFD6-303D-49EB-9F97-54AAD987FB1C}" destId="{D05E7CFE-BF29-4AF1-BE42-948E2646B036}" srcOrd="1" destOrd="0" parTransId="{1B5A3490-86A1-405A-8665-FD3FBBEE3E79}" sibTransId="{B9BB0739-1370-4C32-AA53-2D0B18399CFF}"/>
    <dgm:cxn modelId="{9A4D00E1-1E91-4AA2-B6D8-DF79FCACB50C}" srcId="{ED00DFD6-303D-49EB-9F97-54AAD987FB1C}" destId="{42184086-6DCF-426D-9A61-F0DC8D936667}" srcOrd="2" destOrd="0" parTransId="{A697BE11-1A6C-4D9B-B6E6-6BEA92D38D77}" sibTransId="{C1A55863-2F4F-494B-B651-320544166E46}"/>
    <dgm:cxn modelId="{686DF71C-4B44-4BD7-AB23-C700D34C354F}" type="presParOf" srcId="{CDAA0AB3-6E70-46B9-B23F-763D6EA3FDF8}" destId="{99437CE8-F68B-4732-AD47-BE0AF7CE4C74}" srcOrd="0" destOrd="0" presId="urn:microsoft.com/office/officeart/2005/8/layout/hierarchy1"/>
    <dgm:cxn modelId="{3E7C255B-5177-4973-9D15-9CCCD8D64F2A}" type="presParOf" srcId="{99437CE8-F68B-4732-AD47-BE0AF7CE4C74}" destId="{8EB550FC-E6DF-483D-A9D4-D9227F39EEB4}" srcOrd="0" destOrd="0" presId="urn:microsoft.com/office/officeart/2005/8/layout/hierarchy1"/>
    <dgm:cxn modelId="{AA8DFCDE-3B2F-4B75-8C22-47E116A4609D}" type="presParOf" srcId="{8EB550FC-E6DF-483D-A9D4-D9227F39EEB4}" destId="{6905159C-92B8-4580-964D-E11861DE4C50}" srcOrd="0" destOrd="0" presId="urn:microsoft.com/office/officeart/2005/8/layout/hierarchy1"/>
    <dgm:cxn modelId="{07E938A6-E8CE-4DA9-9812-BD715538A41F}" type="presParOf" srcId="{8EB550FC-E6DF-483D-A9D4-D9227F39EEB4}" destId="{1995AFB2-A8E0-4386-A6DF-8FA0F90F4296}" srcOrd="1" destOrd="0" presId="urn:microsoft.com/office/officeart/2005/8/layout/hierarchy1"/>
    <dgm:cxn modelId="{34C0EEE9-8FA0-4571-AC30-A59DE75EB265}" type="presParOf" srcId="{99437CE8-F68B-4732-AD47-BE0AF7CE4C74}" destId="{629437F2-9D9A-4CE8-8BDD-644BAF136FCA}" srcOrd="1" destOrd="0" presId="urn:microsoft.com/office/officeart/2005/8/layout/hierarchy1"/>
    <dgm:cxn modelId="{F00BC6CC-C076-49F6-B070-24EC385C0A64}" type="presParOf" srcId="{CDAA0AB3-6E70-46B9-B23F-763D6EA3FDF8}" destId="{4FE8DED8-7F8A-47E2-B5CC-C1A0E67DE998}" srcOrd="1" destOrd="0" presId="urn:microsoft.com/office/officeart/2005/8/layout/hierarchy1"/>
    <dgm:cxn modelId="{9B7DB47A-3E81-4B54-BF90-EDF5BF05297F}" type="presParOf" srcId="{4FE8DED8-7F8A-47E2-B5CC-C1A0E67DE998}" destId="{A8FDD50D-E7F9-402E-B53F-D436158A5C1E}" srcOrd="0" destOrd="0" presId="urn:microsoft.com/office/officeart/2005/8/layout/hierarchy1"/>
    <dgm:cxn modelId="{F484F279-E61A-4077-9E3B-83134AFD6932}" type="presParOf" srcId="{A8FDD50D-E7F9-402E-B53F-D436158A5C1E}" destId="{5BC7EFB6-197F-4465-9F01-B14171F19251}" srcOrd="0" destOrd="0" presId="urn:microsoft.com/office/officeart/2005/8/layout/hierarchy1"/>
    <dgm:cxn modelId="{539BF4E4-BEA1-465B-8954-9EFC19AE66E0}" type="presParOf" srcId="{A8FDD50D-E7F9-402E-B53F-D436158A5C1E}" destId="{651A3EC9-FA12-40D7-908A-9D7B49C0B903}" srcOrd="1" destOrd="0" presId="urn:microsoft.com/office/officeart/2005/8/layout/hierarchy1"/>
    <dgm:cxn modelId="{94C6271F-3D4E-4595-AAEC-BA895B78B162}" type="presParOf" srcId="{4FE8DED8-7F8A-47E2-B5CC-C1A0E67DE998}" destId="{01CF3E96-F6EB-4F4E-AC09-03C96E64AFFB}" srcOrd="1" destOrd="0" presId="urn:microsoft.com/office/officeart/2005/8/layout/hierarchy1"/>
    <dgm:cxn modelId="{883DB496-66DB-498D-9F74-961765506982}" type="presParOf" srcId="{CDAA0AB3-6E70-46B9-B23F-763D6EA3FDF8}" destId="{5A03810D-A7A7-45D5-AFFE-376E6A4FDED0}" srcOrd="2" destOrd="0" presId="urn:microsoft.com/office/officeart/2005/8/layout/hierarchy1"/>
    <dgm:cxn modelId="{A701970B-72F4-4379-A39A-16F35C9FC2F5}" type="presParOf" srcId="{5A03810D-A7A7-45D5-AFFE-376E6A4FDED0}" destId="{B20282EB-2E98-49B0-B1CD-4C81FAA3CB8F}" srcOrd="0" destOrd="0" presId="urn:microsoft.com/office/officeart/2005/8/layout/hierarchy1"/>
    <dgm:cxn modelId="{145B40E2-75C8-48FA-90D7-29A49880209F}" type="presParOf" srcId="{B20282EB-2E98-49B0-B1CD-4C81FAA3CB8F}" destId="{E53EB046-A0F9-4DC8-B6CD-C52387152999}" srcOrd="0" destOrd="0" presId="urn:microsoft.com/office/officeart/2005/8/layout/hierarchy1"/>
    <dgm:cxn modelId="{FB7BBADA-B01A-45BC-AB60-FD23E5F8A079}" type="presParOf" srcId="{B20282EB-2E98-49B0-B1CD-4C81FAA3CB8F}" destId="{8442EC10-7CB0-44F4-B544-81B3A06C2103}" srcOrd="1" destOrd="0" presId="urn:microsoft.com/office/officeart/2005/8/layout/hierarchy1"/>
    <dgm:cxn modelId="{D9B512B2-835F-47D3-B122-00E1A8CA1BEA}" type="presParOf" srcId="{5A03810D-A7A7-45D5-AFFE-376E6A4FDED0}" destId="{EE592E87-4D85-408D-A3DB-98DE59A695F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03759F-2BB5-462F-A506-033D9F758BCA}">
      <dsp:nvSpPr>
        <dsp:cNvPr id="0" name=""/>
        <dsp:cNvSpPr/>
      </dsp:nvSpPr>
      <dsp:spPr>
        <a:xfrm>
          <a:off x="0" y="24537"/>
          <a:ext cx="105156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noProof="0"/>
            <a:t>Taux de TVA unique (20 %) sur toutes les factures </a:t>
          </a:r>
        </a:p>
      </dsp:txBody>
      <dsp:txXfrm>
        <a:off x="23417" y="47954"/>
        <a:ext cx="10468766" cy="432866"/>
      </dsp:txXfrm>
    </dsp:sp>
    <dsp:sp modelId="{D0E7AA85-7BBD-4E5C-82FE-A7FB4D3FCEEE}">
      <dsp:nvSpPr>
        <dsp:cNvPr id="0" name=""/>
        <dsp:cNvSpPr/>
      </dsp:nvSpPr>
      <dsp:spPr>
        <a:xfrm>
          <a:off x="0" y="561837"/>
          <a:ext cx="105156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noProof="0"/>
            <a:t>Réduction possible du TURPE (profil anticyclique, prévisible) </a:t>
          </a:r>
        </a:p>
      </dsp:txBody>
      <dsp:txXfrm>
        <a:off x="23417" y="585254"/>
        <a:ext cx="10468766" cy="432866"/>
      </dsp:txXfrm>
    </dsp:sp>
    <dsp:sp modelId="{48D61C01-5D32-4390-9A28-48535CE3BCE9}">
      <dsp:nvSpPr>
        <dsp:cNvPr id="0" name=""/>
        <dsp:cNvSpPr/>
      </dsp:nvSpPr>
      <dsp:spPr>
        <a:xfrm>
          <a:off x="0" y="1099137"/>
          <a:ext cx="105156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noProof="0"/>
            <a:t>Réductions ou exonérations d’accise dans certains cas industriels </a:t>
          </a:r>
        </a:p>
      </dsp:txBody>
      <dsp:txXfrm>
        <a:off x="23417" y="1122554"/>
        <a:ext cx="10468766" cy="4328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9D4830-C8CC-4DA9-BE58-B15380E4C540}">
      <dsp:nvSpPr>
        <dsp:cNvPr id="0" name=""/>
        <dsp:cNvSpPr/>
      </dsp:nvSpPr>
      <dsp:spPr>
        <a:xfrm>
          <a:off x="792177" y="1626"/>
          <a:ext cx="2642224" cy="15853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noProof="0"/>
            <a:t>Ajuster la puissance souscrite </a:t>
          </a:r>
        </a:p>
      </dsp:txBody>
      <dsp:txXfrm>
        <a:off x="792177" y="1626"/>
        <a:ext cx="2642224" cy="1585334"/>
      </dsp:txXfrm>
    </dsp:sp>
    <dsp:sp modelId="{7804EE62-3A6D-42CD-A221-EE1335340B8C}">
      <dsp:nvSpPr>
        <dsp:cNvPr id="0" name=""/>
        <dsp:cNvSpPr/>
      </dsp:nvSpPr>
      <dsp:spPr>
        <a:xfrm>
          <a:off x="3698623" y="1626"/>
          <a:ext cx="2642224" cy="158533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noProof="0"/>
            <a:t>Utiliser les heures creuses </a:t>
          </a:r>
        </a:p>
      </dsp:txBody>
      <dsp:txXfrm>
        <a:off x="3698623" y="1626"/>
        <a:ext cx="2642224" cy="1585334"/>
      </dsp:txXfrm>
    </dsp:sp>
    <dsp:sp modelId="{36A1ABEA-8D95-4B21-8D89-58FBF432FB30}">
      <dsp:nvSpPr>
        <dsp:cNvPr id="0" name=""/>
        <dsp:cNvSpPr/>
      </dsp:nvSpPr>
      <dsp:spPr>
        <a:xfrm>
          <a:off x="6605070" y="1626"/>
          <a:ext cx="2642224" cy="158533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noProof="0"/>
            <a:t>Suivre sa consommation </a:t>
          </a:r>
        </a:p>
      </dsp:txBody>
      <dsp:txXfrm>
        <a:off x="6605070" y="1626"/>
        <a:ext cx="2642224" cy="1585334"/>
      </dsp:txXfrm>
    </dsp:sp>
    <dsp:sp modelId="{8D799B82-A8A4-4D6F-ABE3-F397EA6594FD}">
      <dsp:nvSpPr>
        <dsp:cNvPr id="0" name=""/>
        <dsp:cNvSpPr/>
      </dsp:nvSpPr>
      <dsp:spPr>
        <a:xfrm>
          <a:off x="792177" y="1851183"/>
          <a:ext cx="2642224" cy="15853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noProof="0"/>
            <a:t>Vérifier les exonérations possibles </a:t>
          </a:r>
        </a:p>
      </dsp:txBody>
      <dsp:txXfrm>
        <a:off x="792177" y="1851183"/>
        <a:ext cx="2642224" cy="1585334"/>
      </dsp:txXfrm>
    </dsp:sp>
    <dsp:sp modelId="{F286A250-21F1-4A01-9EA2-644D802551B4}">
      <dsp:nvSpPr>
        <dsp:cNvPr id="0" name=""/>
        <dsp:cNvSpPr/>
      </dsp:nvSpPr>
      <dsp:spPr>
        <a:xfrm>
          <a:off x="3698623" y="1851183"/>
          <a:ext cx="2642224" cy="158533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noProof="0"/>
            <a:t>Utiliser des comparateurs </a:t>
          </a:r>
        </a:p>
      </dsp:txBody>
      <dsp:txXfrm>
        <a:off x="3698623" y="1851183"/>
        <a:ext cx="2642224" cy="1585334"/>
      </dsp:txXfrm>
    </dsp:sp>
    <dsp:sp modelId="{39ECC2DC-76AA-4744-96CF-403CE6E6E3F2}">
      <dsp:nvSpPr>
        <dsp:cNvPr id="0" name=""/>
        <dsp:cNvSpPr/>
      </dsp:nvSpPr>
      <dsp:spPr>
        <a:xfrm>
          <a:off x="6605070" y="1851183"/>
          <a:ext cx="2642224" cy="15853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noProof="0"/>
            <a:t>Explorer l’autoconsommation / stockage.</a:t>
          </a:r>
        </a:p>
      </dsp:txBody>
      <dsp:txXfrm>
        <a:off x="6605070" y="1851183"/>
        <a:ext cx="2642224" cy="15853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05159C-92B8-4580-964D-E11861DE4C50}">
      <dsp:nvSpPr>
        <dsp:cNvPr id="0" name=""/>
        <dsp:cNvSpPr/>
      </dsp:nvSpPr>
      <dsp:spPr>
        <a:xfrm>
          <a:off x="0" y="1124920"/>
          <a:ext cx="2596557" cy="16488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995AFB2-A8E0-4386-A6DF-8FA0F90F4296}">
      <dsp:nvSpPr>
        <dsp:cNvPr id="0" name=""/>
        <dsp:cNvSpPr/>
      </dsp:nvSpPr>
      <dsp:spPr>
        <a:xfrm>
          <a:off x="288506" y="1399001"/>
          <a:ext cx="2596557" cy="16488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noProof="0" dirty="0"/>
            <a:t>Décomposition d’une facture : énergie / réseau / taxes. </a:t>
          </a:r>
        </a:p>
      </dsp:txBody>
      <dsp:txXfrm>
        <a:off x="336798" y="1447293"/>
        <a:ext cx="2499973" cy="1552229"/>
      </dsp:txXfrm>
    </dsp:sp>
    <dsp:sp modelId="{5BC7EFB6-197F-4465-9F01-B14171F19251}">
      <dsp:nvSpPr>
        <dsp:cNvPr id="0" name=""/>
        <dsp:cNvSpPr/>
      </dsp:nvSpPr>
      <dsp:spPr>
        <a:xfrm>
          <a:off x="3173569" y="1124920"/>
          <a:ext cx="2596557" cy="16488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51A3EC9-FA12-40D7-908A-9D7B49C0B903}">
      <dsp:nvSpPr>
        <dsp:cNvPr id="0" name=""/>
        <dsp:cNvSpPr/>
      </dsp:nvSpPr>
      <dsp:spPr>
        <a:xfrm>
          <a:off x="3462076" y="1399001"/>
          <a:ext cx="2596557" cy="16488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noProof="0"/>
            <a:t>Cas pratiques d’analyse et d’optimisation. </a:t>
          </a:r>
        </a:p>
      </dsp:txBody>
      <dsp:txXfrm>
        <a:off x="3510368" y="1447293"/>
        <a:ext cx="2499973" cy="1552229"/>
      </dsp:txXfrm>
    </dsp:sp>
    <dsp:sp modelId="{E53EB046-A0F9-4DC8-B6CD-C52387152999}">
      <dsp:nvSpPr>
        <dsp:cNvPr id="0" name=""/>
        <dsp:cNvSpPr/>
      </dsp:nvSpPr>
      <dsp:spPr>
        <a:xfrm>
          <a:off x="6347139" y="1124920"/>
          <a:ext cx="2596557" cy="16488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442EC10-7CB0-44F4-B544-81B3A06C2103}">
      <dsp:nvSpPr>
        <dsp:cNvPr id="0" name=""/>
        <dsp:cNvSpPr/>
      </dsp:nvSpPr>
      <dsp:spPr>
        <a:xfrm>
          <a:off x="6635645" y="1399001"/>
          <a:ext cx="2596557" cy="16488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noProof="0" dirty="0"/>
            <a:t>Spécificités industrielles et évolutions réglementaires. </a:t>
          </a:r>
        </a:p>
      </dsp:txBody>
      <dsp:txXfrm>
        <a:off x="6683937" y="1447293"/>
        <a:ext cx="2499973" cy="15522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04BCC2-5A92-486E-9A43-8B9266EDB282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C0369-C646-4CDD-90C4-E8705C9437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9247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pp=0gcJCdgAo7VqN5tD&amp;v=jytW2MGxYjU&amp;utm_source=chatgpt.com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allons maintenant visionner une courte vidéo qui présente de façon visuelle les différentes rubriques d’une facture d’électricité. </a:t>
            </a:r>
          </a:p>
          <a:p>
            <a:r>
              <a:rPr lang="fr-F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“Comprendre sa facture d’électricité et de gaz” (</a:t>
            </a:r>
            <a:r>
              <a:rPr lang="fr-FR" sz="1200" i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Comprendre sa facture d'électricité et de gaz - YouTube"/>
              </a:rPr>
              <a:t>YouTube</a:t>
            </a:r>
            <a:r>
              <a:rPr lang="fr-FR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C0369-C646-4CDD-90C4-E8705C94376D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42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Voici les sources utilisées lors de la présentation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C0369-C646-4CDD-90C4-E8705C94376D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1746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FB6700-B4C4-5CBA-057D-BF64D2194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33FCB84-F33A-0000-5EFE-2A5B00A139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ECCBCB-EBCB-88F8-87B9-986302363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A37312-6D08-F11E-2815-4B5659B2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CCF930-256C-C16D-9E0A-D10B2DE65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6535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E37577-9E24-B6E4-81DD-4B01159B6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5202B4-1DA3-32BC-BE2F-43323F07E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31DC8F-8318-9452-513C-0946BFE26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AA6D0B-7FE4-E6FF-B9EB-4A367B029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48A9ED-1934-DB3E-937E-0541E3BAC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0388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475A6D-A3FA-5EF6-E923-C9CBBD0E4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DADF2AF-2CEB-F0F4-9009-3DC15FE1C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C389CF-D349-D8C7-76BF-5591DB468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2D6B2E-34BA-09FA-EBB0-9AC3C415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0FA28F-9D2F-93C6-CB68-E4F575B7F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0098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EA693B-A591-B63B-4CC1-BCB15B661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69F8DA-8B05-04DD-49CE-29F0D8D008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14C16C1-AF0E-CB4F-974A-772FADA8F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286773A-6521-12D4-FC07-ACB51AFA3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03614A8-967A-C338-74B8-D905772F0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8BC6C9C-B913-06E1-B357-8836CA6AC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828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F299BA-17C4-15B3-6675-069EC11F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AE8E4D-CB92-B314-31D8-80E1B930E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1702B8A-A379-1EF1-197B-676E83D8C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4EC0D6C-960D-952A-4A33-5D7FFB751A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3733BC3-6B5E-F0FC-ADF3-E3A2C36D0D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1CE2077-09DB-6CBD-6D35-8048F8014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F3CD0D8-0B35-32FB-19C7-EB647B123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FAF9E78-E87F-016F-724A-092D0B56B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5821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2E162E-35C5-762B-20A2-F756C3B36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8E29D0A-7732-4524-95D5-7ED065FA2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3277F86-15BB-4AF2-C249-A8522C10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A1692B6-2B91-4BCF-F21B-967E6E6F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694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E3C376E-A5B9-B739-AFC2-F3401FF9E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15D64D8-9295-797A-961B-ED520BB7B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EF366A-0B0D-E5D4-F397-CF9410950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978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F8164A-95C3-4D49-0E38-23CFBBFF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E57601-B893-5086-C436-CF4859607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3EED589-CD12-DAA8-9D4D-E99CC68B0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1946A79-0C6B-D2A0-6E74-436A8A3DE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47E315-5761-B4C7-3AAB-974AEE049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1DEAC3F-8445-99A3-2369-CD2BC2316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97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5197D8-6C9B-D904-25F4-D62E2B628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ECA5569-81BE-FF21-6977-8D407BDCE6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23BD90C-9B72-3038-7B4E-991C06944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6FA4F89-E3CF-5426-BF2F-B10B71962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FF08C7-8A16-C055-F10E-3AF309A49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4FDDAA6-E219-713A-D697-E4D0275C0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1573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E26E93-09CD-0781-946E-D9AF71D4A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A05F882-4090-3E01-E571-BE603E345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EF1452-1CA7-271E-EF0B-B890A1B67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2667D3-25C5-7CD4-C25D-BE2E734CE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C98C75-0304-8CFD-E864-76A8E980A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045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8EC25B2-B373-D18C-FD15-4E9CA433F4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C3421F0-CDBA-DC1E-BFD8-5913734A7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7275F9-96AE-E9E1-A5A7-1BA812DCF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F2B1A8-80C1-4B95-5F04-260867462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257528-41F9-5EED-6ABE-32C48EBE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96559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222F7E1-057B-C1F6-CC2A-661A460B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227"/>
            <a:ext cx="11195959" cy="567177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242745-1B04-1E6F-ECA9-0451539EE2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765" y="1504335"/>
            <a:ext cx="11195958" cy="4419153"/>
          </a:xfrm>
        </p:spPr>
        <p:txBody>
          <a:bodyPr/>
          <a:lstStyle>
            <a:lvl1pPr algn="just">
              <a:defRPr sz="1800" b="1">
                <a:solidFill>
                  <a:schemeClr val="tx1"/>
                </a:solidFill>
              </a:defRPr>
            </a:lvl1pPr>
            <a:lvl2pPr algn="just">
              <a:defRPr sz="1800" b="1">
                <a:solidFill>
                  <a:schemeClr val="tx1"/>
                </a:solidFill>
              </a:defRPr>
            </a:lvl2pPr>
            <a:lvl3pPr algn="just">
              <a:defRPr sz="1400">
                <a:solidFill>
                  <a:schemeClr val="tx1"/>
                </a:solidFill>
              </a:defRPr>
            </a:lvl3pPr>
            <a:lvl4pPr algn="just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just">
              <a:defRPr sz="7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F02F39A9-B600-1A52-6CD8-419DD30FD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764" y="6356350"/>
            <a:ext cx="7668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B6EB6DA8-5EA0-C847-9A99-E4BE55F5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483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772EFF6D-0E37-C170-6E8F-791B2E35C1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64400" y="0"/>
            <a:ext cx="8127600" cy="685800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42D1EC-00BA-090F-4890-8A8449B213D6}"/>
              </a:ext>
            </a:extLst>
          </p:cNvPr>
          <p:cNvSpPr/>
          <p:nvPr userDrawn="1"/>
        </p:nvSpPr>
        <p:spPr>
          <a:xfrm>
            <a:off x="1" y="0"/>
            <a:ext cx="4064399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2309DC96-23C2-8373-05B0-2E90FE5E41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912524" y="134362"/>
            <a:ext cx="779751" cy="1497617"/>
          </a:xfrm>
          <a:prstGeom prst="rect">
            <a:avLst/>
          </a:prstGeom>
        </p:spPr>
      </p:pic>
      <p:sp>
        <p:nvSpPr>
          <p:cNvPr id="10" name="Title 19">
            <a:extLst>
              <a:ext uri="{FF2B5EF4-FFF2-40B4-BE49-F238E27FC236}">
                <a16:creationId xmlns:a16="http://schemas.microsoft.com/office/drawing/2014/main" id="{4E4A55D5-8C7F-E0F2-769A-1198F3D1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591" y="4080396"/>
            <a:ext cx="6757367" cy="2777604"/>
          </a:xfrm>
        </p:spPr>
        <p:txBody>
          <a:bodyPr anchor="t" anchorCtr="0"/>
          <a:lstStyle>
            <a:lvl1pPr algn="l">
              <a:defRPr sz="4800" b="1" i="0" cap="none">
                <a:solidFill>
                  <a:schemeClr val="bg1"/>
                </a:solidFill>
                <a:highlight>
                  <a:srgbClr val="FF4610"/>
                </a:highligh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71875FF3-DB1B-B1AF-EBE8-DC7553A277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591" y="3185157"/>
            <a:ext cx="6757367" cy="779751"/>
          </a:xfrm>
        </p:spPr>
        <p:txBody>
          <a:bodyPr anchor="ctr" anchorCtr="0"/>
          <a:lstStyle>
            <a:lvl1pPr marL="0" indent="0" algn="l">
              <a:lnSpc>
                <a:spcPct val="130000"/>
              </a:lnSpc>
              <a:spcAft>
                <a:spcPts val="0"/>
              </a:spcAft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617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E8D8AE9-08A4-EFF2-4F54-C071391D5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9281" y="2848291"/>
            <a:ext cx="8319493" cy="1161417"/>
          </a:xfrm>
        </p:spPr>
        <p:txBody>
          <a:bodyPr anchor="t" anchorCtr="0"/>
          <a:lstStyle>
            <a:lvl1pPr marL="514350" indent="-514350" algn="ctr">
              <a:buFont typeface="+mj-lt"/>
              <a:buAutoNum type="arabicPeriod"/>
              <a:defRPr sz="3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174042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6 EXTER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5D6C9007-5C83-E2C9-8FE1-6E103CC9527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81A022-1955-8E84-264F-DA8C787616D7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2DD95BA4-8D6D-20C0-7EC3-6BDE16C2E4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C9FA3845-7785-CB90-DF4D-2EC400774B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59435" y="3871912"/>
            <a:ext cx="2814808" cy="3406395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7B11E268-1DBC-ED3D-74AC-C7ED3DB687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47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5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8668EC5C-13C9-6D19-B4B0-570B52BFD9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4E90D4-9D79-EB05-FA2D-6AB45C2F7BC3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CF84035D-A86A-F191-7DBD-129CD2D55A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tx1"/>
                </a:solidFill>
                <a:highlight>
                  <a:srgbClr val="FFFFFF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F28C0647-6D89-89EF-2BF8-167F40D4A1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123" y="3871912"/>
            <a:ext cx="2986559" cy="3406395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50B6F0A0-64FF-C6D0-EC81-F1D699C04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809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4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84D3005C-7EE6-36A2-687A-ADED0A2E32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4E25A5-F183-0A8C-FC3E-BA204BD1BEDB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FE9C5DAC-9AD4-475B-FE95-4F79829E1E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2FAD66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E180EFFC-540D-BDAC-A87B-F3F645506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1206" y="3871912"/>
            <a:ext cx="3406395" cy="3406395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C3F3CE54-053C-2147-EB09-1BB612E03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076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2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47B327B4-F876-873C-33A0-B48047ECB9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B613B6-7965-C6B5-12FB-5B1B8B2AF5A0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D3A28C71-9174-F7A3-8AFE-9E1672CBA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00919B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50548928-AC40-C806-C2A5-399F2F453A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5929" y="3928356"/>
            <a:ext cx="2837630" cy="3434013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E9E869DE-F122-AFC9-E0D0-5B041E201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427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1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73A6813C-B546-5432-BAAA-59A5D751ACF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5930BC-1753-B241-B5F0-BC9CC06D66F5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21" name="Title 19">
            <a:extLst>
              <a:ext uri="{FF2B5EF4-FFF2-40B4-BE49-F238E27FC236}">
                <a16:creationId xmlns:a16="http://schemas.microsoft.com/office/drawing/2014/main" id="{00DE8ACC-D335-3D3B-3D12-DA4C69B5A8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FFB9B5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7536D9D4-5FE9-D0E3-D926-E4E33B1309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0966" y="3871913"/>
            <a:ext cx="2029626" cy="3434012"/>
          </a:xfrm>
          <a:prstGeom prst="rect">
            <a:avLst/>
          </a:prstGeom>
        </p:spPr>
      </p:pic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4DAE5F12-80CD-8562-82F6-10F7F4268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636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222F7E1-057B-C1F6-CC2A-661A460B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227"/>
            <a:ext cx="11195959" cy="567177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242745-1B04-1E6F-ECA9-0451539EE2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765" y="1504335"/>
            <a:ext cx="11195958" cy="4419153"/>
          </a:xfrm>
        </p:spPr>
        <p:txBody>
          <a:bodyPr/>
          <a:lstStyle>
            <a:lvl1pPr algn="just">
              <a:defRPr sz="1800" b="1">
                <a:solidFill>
                  <a:schemeClr val="tx1"/>
                </a:solidFill>
              </a:defRPr>
            </a:lvl1pPr>
            <a:lvl2pPr algn="just">
              <a:defRPr sz="1800" b="1">
                <a:solidFill>
                  <a:schemeClr val="tx1"/>
                </a:solidFill>
              </a:defRPr>
            </a:lvl2pPr>
            <a:lvl3pPr algn="just">
              <a:defRPr sz="1400">
                <a:solidFill>
                  <a:schemeClr val="tx1"/>
                </a:solidFill>
              </a:defRPr>
            </a:lvl3pPr>
            <a:lvl4pPr algn="just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just">
              <a:defRPr sz="7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F02F39A9-B600-1A52-6CD8-419DD30FD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764" y="6356350"/>
            <a:ext cx="7668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B6EB6DA8-5EA0-C847-9A99-E4BE55F5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903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222F7E1-057B-C1F6-CC2A-661A460B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227"/>
            <a:ext cx="11195959" cy="567177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242745-1B04-1E6F-ECA9-0451539EE2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765" y="1504335"/>
            <a:ext cx="11195958" cy="4419153"/>
          </a:xfrm>
        </p:spPr>
        <p:txBody>
          <a:bodyPr/>
          <a:lstStyle>
            <a:lvl1pPr algn="just">
              <a:defRPr sz="1800" b="1">
                <a:solidFill>
                  <a:schemeClr val="tx1"/>
                </a:solidFill>
              </a:defRPr>
            </a:lvl1pPr>
            <a:lvl2pPr algn="just">
              <a:defRPr sz="1800" b="1">
                <a:solidFill>
                  <a:schemeClr val="tx1"/>
                </a:solidFill>
              </a:defRPr>
            </a:lvl2pPr>
            <a:lvl3pPr algn="just">
              <a:defRPr sz="1400">
                <a:solidFill>
                  <a:schemeClr val="tx1"/>
                </a:solidFill>
              </a:defRPr>
            </a:lvl3pPr>
            <a:lvl4pPr algn="just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just">
              <a:defRPr sz="7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F02F39A9-B600-1A52-6CD8-419DD30FD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764" y="6356350"/>
            <a:ext cx="7668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B6EB6DA8-5EA0-C847-9A99-E4BE55F5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770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3 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14F6AA-087B-CE36-96C0-427F96B4A99B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04D0DE6E-8BB1-7EAF-0A35-FB3905B453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6095" y="-311727"/>
            <a:ext cx="3908069" cy="7505973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A56199FF-4002-2744-182B-DD250F36A7C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7624" y="3844296"/>
            <a:ext cx="2770295" cy="3434012"/>
          </a:xfrm>
          <a:prstGeom prst="rect">
            <a:avLst/>
          </a:prstGeom>
        </p:spPr>
      </p:pic>
      <p:sp>
        <p:nvSpPr>
          <p:cNvPr id="19" name="Title 19">
            <a:extLst>
              <a:ext uri="{FF2B5EF4-FFF2-40B4-BE49-F238E27FC236}">
                <a16:creationId xmlns:a16="http://schemas.microsoft.com/office/drawing/2014/main" id="{EF18C0AC-6DBA-94F4-5062-2FEE5DE05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tx1"/>
                </a:solidFill>
                <a:highlight>
                  <a:srgbClr val="FFFFFF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CA331F-5B5E-77DE-69E1-411B73E47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5252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e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1D9E6DF-44F9-1362-FE87-328DBA872C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3049200" cy="685800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222F7E1-057B-C1F6-CC2A-661A460B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591" y="887997"/>
            <a:ext cx="9673272" cy="744724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242745-1B04-1E6F-ECA9-0451539EE2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59151" y="2253268"/>
            <a:ext cx="3262152" cy="2814696"/>
          </a:xfrm>
        </p:spPr>
        <p:txBody>
          <a:bodyPr/>
          <a:lstStyle>
            <a:lvl1pPr>
              <a:defRPr sz="2000" b="1">
                <a:solidFill>
                  <a:schemeClr val="accent4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defRPr sz="1600">
                <a:solidFill>
                  <a:schemeClr val="tx1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27542F74-E2AE-FCD9-7B2F-86C2801BD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85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-F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D1012D-454D-B585-E4E4-11998A891E3E}"/>
              </a:ext>
            </a:extLst>
          </p:cNvPr>
          <p:cNvSpPr/>
          <p:nvPr userDrawn="1"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48EDFF77-90A4-03C2-086F-CB04B6A14C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2028216"/>
            <a:ext cx="12192001" cy="2093575"/>
          </a:xfrm>
          <a:prstGeom prst="rect">
            <a:avLst/>
          </a:prstGeom>
        </p:spPr>
      </p:pic>
      <p:pic>
        <p:nvPicPr>
          <p:cNvPr id="7" name="Image 6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EB6C0139-F20E-7AA7-3925-D88D22B38BD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081" y="4966007"/>
            <a:ext cx="2225836" cy="222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0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sv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1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2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3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C4475F7-77F6-7257-A1E0-7E4E5EDD9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89CA62-4C81-655B-09BC-BD1D164A3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1008C6-2D62-178F-E1CD-39935BCFE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69CA69-9681-163A-0C57-27123318F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A8D1B2-DE50-42C8-5B56-9873B249F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8504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92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88" y="695689"/>
            <a:ext cx="9673272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888" y="1788487"/>
            <a:ext cx="10690224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LEVEL</a:t>
            </a:r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1805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kern="1200" spc="3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b="1" i="0" kern="1200" spc="3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highlight>
            <a:srgbClr val="142848"/>
          </a:highlight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1441" y="2869593"/>
            <a:ext cx="5773230" cy="114333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C6D76721-85E3-138A-A9B1-66888669CD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5140" t="4154" b="4479"/>
          <a:stretch>
            <a:fillRect/>
          </a:stretch>
        </p:blipFill>
        <p:spPr>
          <a:xfrm>
            <a:off x="-12812" y="0"/>
            <a:ext cx="2534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20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b="1" i="0" kern="1200">
          <a:solidFill>
            <a:schemeClr val="tx1"/>
          </a:solidFill>
          <a:latin typeface="GILROY-EXTRABOLD" pitchFamily="2" charset="77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highlight>
            <a:srgbClr val="142848"/>
          </a:highligh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88" y="695689"/>
            <a:ext cx="10690224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888" y="1788487"/>
            <a:ext cx="10690224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text</a:t>
            </a:r>
            <a:r>
              <a:rPr lang="fr-FR" dirty="0"/>
              <a:t>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0406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4" r:id="rId2"/>
    <p:sldLayoutId id="2147483883" r:id="rId3"/>
    <p:sldLayoutId id="2147483881" r:id="rId4"/>
    <p:sldLayoutId id="2147483880" r:id="rId5"/>
    <p:sldLayoutId id="2147483927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50" kern="1200">
          <a:solidFill>
            <a:schemeClr val="tx1"/>
          </a:solidFill>
          <a:highlight>
            <a:srgbClr val="142848"/>
          </a:highlight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695689"/>
            <a:ext cx="11047822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290" y="1788487"/>
            <a:ext cx="11047822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DE6CD7B-9C42-AEF7-B204-006627AD2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291" y="6356350"/>
            <a:ext cx="77601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4F112D-4D24-0690-DFFA-EF1B44470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1587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1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1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88" y="695689"/>
            <a:ext cx="10690224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888" y="1788487"/>
            <a:ext cx="10690224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text</a:t>
            </a:r>
            <a:r>
              <a:rPr lang="fr-FR" dirty="0"/>
              <a:t>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709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50" kern="1200">
          <a:solidFill>
            <a:schemeClr val="tx1"/>
          </a:solidFill>
          <a:highlight>
            <a:srgbClr val="142848"/>
          </a:highlight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88" y="508876"/>
            <a:ext cx="9673272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888" y="1573161"/>
            <a:ext cx="10690224" cy="45891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0645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accent4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95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accent4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0.svg"/><Relationship Id="rId3" Type="http://schemas.openxmlformats.org/officeDocument/2006/relationships/image" Target="../media/image23.svg"/><Relationship Id="rId7" Type="http://schemas.openxmlformats.org/officeDocument/2006/relationships/image" Target="../media/image26.svg"/><Relationship Id="rId12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5.png"/><Relationship Id="rId11" Type="http://schemas.openxmlformats.org/officeDocument/2006/relationships/image" Target="../media/image29.svg"/><Relationship Id="rId5" Type="http://schemas.openxmlformats.org/officeDocument/2006/relationships/image" Target="../media/image24.svg"/><Relationship Id="rId10" Type="http://schemas.openxmlformats.org/officeDocument/2006/relationships/image" Target="../media/image28.png"/><Relationship Id="rId4" Type="http://schemas.openxmlformats.org/officeDocument/2006/relationships/image" Target="../media/image11.png"/><Relationship Id="rId9" Type="http://schemas.openxmlformats.org/officeDocument/2006/relationships/image" Target="../media/image2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2.jpe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2.jpe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jytW2MGxYjU?feature=oembed" TargetMode="External"/><Relationship Id="rId5" Type="http://schemas.openxmlformats.org/officeDocument/2006/relationships/image" Target="../media/image32.jpeg"/><Relationship Id="rId4" Type="http://schemas.openxmlformats.org/officeDocument/2006/relationships/image" Target="../media/image4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2.jpeg"/><Relationship Id="rId5" Type="http://schemas.openxmlformats.org/officeDocument/2006/relationships/hyperlink" Target="https://github.com/BleuennPigeon/eLearningMarcheEnergie" TargetMode="External"/><Relationship Id="rId4" Type="http://schemas.openxmlformats.org/officeDocument/2006/relationships/image" Target="../media/image4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6.svg"/><Relationship Id="rId7" Type="http://schemas.openxmlformats.org/officeDocument/2006/relationships/diagramColors" Target="../diagrams/colors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3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2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alliancedesenergies.fr/evolution-turpe/" TargetMode="External"/><Relationship Id="rId13" Type="http://schemas.openxmlformats.org/officeDocument/2006/relationships/hyperlink" Target="https://www.ecologie.gouv.fr/politiques-publiques/reduction-tarif-dutilisation-du-reseau-public-transport-delectricite?utm_source=chatgpt.com" TargetMode="External"/><Relationship Id="rId3" Type="http://schemas.openxmlformats.org/officeDocument/2006/relationships/hyperlink" Target="https://www.edf.fr/collectivites/faq-collectivites/electricite-gaz-bien-preparer-son-appel-d-offre/taxes-et-normes-du-marche-de-l-electricite/qu-est-ce-que-le-turpe-tarif-d-utilisation-des-reseaux-publics-d-electricite?utm_source=chatgpt.com" TargetMode="External"/><Relationship Id="rId7" Type="http://schemas.openxmlformats.org/officeDocument/2006/relationships/hyperlink" Target="https://www.edf-solutions-solaires.com/guide-solaire/turpe/?utm_source=chatgpt.com" TargetMode="External"/><Relationship Id="rId12" Type="http://schemas.openxmlformats.org/officeDocument/2006/relationships/hyperlink" Target="https://www.rsw.net/blog/analyse/turpe-6-vs-turpe-5-ce-qui-change-pour-les-professionnel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treprises-collectivites.engie.fr/actualites/turpe-comprendre-tarif-utilisation-reseaux-publics-electricite/?utm_source=chatgpt.com" TargetMode="External"/><Relationship Id="rId11" Type="http://schemas.openxmlformats.org/officeDocument/2006/relationships/hyperlink" Target="https://opera-energie.com/tva-electricite/?utm_source=chatgpt.com" TargetMode="External"/><Relationship Id="rId5" Type="http://schemas.openxmlformats.org/officeDocument/2006/relationships/hyperlink" Target="https://www.edf.fr/collectivites/le-mag/le-mag-collectivites/decryptage-du-marche-de-l-energie/evolution-des-taxes-et-contributions-appliquees-sur-l-electricite-au-1er-aout-2025?utm_source=chatgpt.com" TargetMode="External"/><Relationship Id="rId15" Type="http://schemas.openxmlformats.org/officeDocument/2006/relationships/image" Target="../media/image32.jpeg"/><Relationship Id="rId10" Type="http://schemas.openxmlformats.org/officeDocument/2006/relationships/hyperlink" Target="https://www.jechange.fr/energie/electricite/taxes?utm_source=chatgpt.com" TargetMode="External"/><Relationship Id="rId4" Type="http://schemas.openxmlformats.org/officeDocument/2006/relationships/hyperlink" Target="https://www.edf.fr/entreprises/le-mag/le-mag-entreprises/decryptage-du-marche-de-l-energie/le-turpe-7-entre-en-vigueur-au-1er-aout-2025?utm_source=chatgpt.com" TargetMode="External"/><Relationship Id="rId9" Type="http://schemas.openxmlformats.org/officeDocument/2006/relationships/hyperlink" Target="https://www.atoo-energie.com/blog/evolutions-reglementaires-energie/turpe-6-quels-impacts-sur-facture-electricite/" TargetMode="External"/><Relationship Id="rId14" Type="http://schemas.openxmlformats.org/officeDocument/2006/relationships/hyperlink" Target="https://www.quechoisir.org/conseils-facture-de-gaz-les-points-cles-pour-la-comprendre-n16916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181639EE-7EAB-3205-2E93-E10E5000FD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0A36B49-3E6A-1F81-19D7-E56187CFB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591" y="4080395"/>
            <a:ext cx="3291899" cy="2658607"/>
          </a:xfrm>
        </p:spPr>
        <p:txBody>
          <a:bodyPr/>
          <a:lstStyle/>
          <a:p>
            <a:pPr marL="114300"/>
            <a:r>
              <a:rPr lang="fr-FR" sz="2000" b="0" dirty="0"/>
              <a:t>Décoder chaque ligne d’une facture</a:t>
            </a:r>
            <a:br>
              <a:rPr lang="fr-FR" sz="2000" b="0" dirty="0"/>
            </a:br>
            <a:br>
              <a:rPr lang="fr-FR" sz="2000" b="0" dirty="0"/>
            </a:br>
            <a:r>
              <a:rPr lang="fr-FR" sz="2000" b="0" dirty="0"/>
              <a:t>Identifier les postes de coût : énergie, TURPE, </a:t>
            </a:r>
            <a:br>
              <a:rPr lang="fr-FR" sz="2000" b="0" dirty="0"/>
            </a:br>
            <a:r>
              <a:rPr lang="fr-FR" sz="2000" b="0" dirty="0"/>
              <a:t>taxes</a:t>
            </a:r>
            <a:br>
              <a:rPr lang="fr-FR" sz="2000" b="0" dirty="0"/>
            </a:br>
            <a:br>
              <a:rPr lang="fr-FR" sz="2000" b="0" dirty="0"/>
            </a:br>
            <a:r>
              <a:rPr lang="fr-FR" sz="2000" b="0" dirty="0"/>
              <a:t>Développer un regard critique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3E15AE3-C690-CEC1-408D-7E35F3C59D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Objectifs :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A05FA7BB-14FB-A392-9740-4FA6DB2AB820}"/>
              </a:ext>
            </a:extLst>
          </p:cNvPr>
          <p:cNvSpPr txBox="1">
            <a:spLocks/>
          </p:cNvSpPr>
          <p:nvPr/>
        </p:nvSpPr>
        <p:spPr>
          <a:xfrm>
            <a:off x="5295373" y="728865"/>
            <a:ext cx="5877050" cy="161620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none" baseline="0">
                <a:solidFill>
                  <a:schemeClr val="bg1"/>
                </a:solidFill>
                <a:highlight>
                  <a:srgbClr val="FF4610"/>
                </a:highlight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fr-FR" dirty="0"/>
              <a:t>Cours 1 :</a:t>
            </a:r>
          </a:p>
          <a:p>
            <a:r>
              <a:rPr lang="fr-FR" dirty="0"/>
              <a:t>Lire et comprendre sa facture d’énergie</a:t>
            </a:r>
          </a:p>
        </p:txBody>
      </p:sp>
      <p:pic>
        <p:nvPicPr>
          <p:cNvPr id="6" name="Picture 6" descr="Je vis dans une maison de 100m² : voici le montant de ma facture d' électricité en 2025">
            <a:extLst>
              <a:ext uri="{FF2B5EF4-FFF2-40B4-BE49-F238E27FC236}">
                <a16:creationId xmlns:a16="http://schemas.microsoft.com/office/drawing/2014/main" id="{06DAA2EF-28A6-0D22-1D80-86C084663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2705978"/>
            <a:ext cx="5315211" cy="3537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ous-titre 2">
            <a:extLst>
              <a:ext uri="{FF2B5EF4-FFF2-40B4-BE49-F238E27FC236}">
                <a16:creationId xmlns:a16="http://schemas.microsoft.com/office/drawing/2014/main" id="{4BABB5FB-6382-CC42-0344-ED0008505498}"/>
              </a:ext>
            </a:extLst>
          </p:cNvPr>
          <p:cNvSpPr txBox="1">
            <a:spLocks/>
          </p:cNvSpPr>
          <p:nvPr/>
        </p:nvSpPr>
        <p:spPr>
          <a:xfrm>
            <a:off x="993749" y="4139033"/>
            <a:ext cx="5877050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 spc="3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i="0" kern="1200" spc="3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279450" indent="-279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pple Symbols" panose="02000000000000000000" pitchFamily="2" charset="-79"/>
              <a:buChar char="⎯"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highlight>
                  <a:srgbClr val="142848"/>
                </a:highlight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9" name="Espace réservé du numéro de diapositive 10">
            <a:extLst>
              <a:ext uri="{FF2B5EF4-FFF2-40B4-BE49-F238E27FC236}">
                <a16:creationId xmlns:a16="http://schemas.microsoft.com/office/drawing/2014/main" id="{427CE2F1-24E6-CBD7-5E01-EF30CF4DBCD7}"/>
              </a:ext>
            </a:extLst>
          </p:cNvPr>
          <p:cNvSpPr txBox="1">
            <a:spLocks/>
          </p:cNvSpPr>
          <p:nvPr/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algn="r">
              <a:defRPr sz="1050">
                <a:solidFill>
                  <a:schemeClr val="tx1">
                    <a:lumMod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246C36-D02A-478A-A2B1-30A38C36882C}" type="slidenum">
              <a:rPr lang="fr-FR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5345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3198B-4C73-2BE3-07B2-2A9CF431C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E6D0CC02-EDB7-73B1-0A7B-4F8D86A9EB68}"/>
              </a:ext>
            </a:extLst>
          </p:cNvPr>
          <p:cNvSpPr txBox="1">
            <a:spLocks/>
          </p:cNvSpPr>
          <p:nvPr/>
        </p:nvSpPr>
        <p:spPr>
          <a:xfrm>
            <a:off x="8330711" y="4673479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fr-FR" sz="2000" dirty="0"/>
              <a:t>Conseils et perspectives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DC935F-4B2D-D05B-F423-8E01C8962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1137" y="2387057"/>
            <a:ext cx="2192385" cy="1161417"/>
          </a:xfrm>
          <a:solidFill>
            <a:schemeClr val="bg1"/>
          </a:solidFill>
        </p:spPr>
        <p:txBody>
          <a:bodyPr anchor="ctr" anchorCtr="0"/>
          <a:lstStyle/>
          <a:p>
            <a:pPr marL="0" lvl="0" indent="0">
              <a:lnSpc>
                <a:spcPct val="100000"/>
              </a:lnSpc>
              <a:buNone/>
            </a:pPr>
            <a:r>
              <a:rPr lang="fr-FR" sz="2000" dirty="0"/>
              <a:t>Contexte du marché de l’électricité </a:t>
            </a:r>
          </a:p>
        </p:txBody>
      </p:sp>
      <p:sp>
        <p:nvSpPr>
          <p:cNvPr id="22" name="Titre 1">
            <a:extLst>
              <a:ext uri="{FF2B5EF4-FFF2-40B4-BE49-F238E27FC236}">
                <a16:creationId xmlns:a16="http://schemas.microsoft.com/office/drawing/2014/main" id="{2EDA29FD-A85B-8646-F714-A68CB96EBAF0}"/>
              </a:ext>
            </a:extLst>
          </p:cNvPr>
          <p:cNvSpPr txBox="1">
            <a:spLocks/>
          </p:cNvSpPr>
          <p:nvPr/>
        </p:nvSpPr>
        <p:spPr>
          <a:xfrm>
            <a:off x="3072064" y="4671513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fr-FR" sz="2000" dirty="0"/>
              <a:t>Facture de gaz</a:t>
            </a:r>
          </a:p>
        </p:txBody>
      </p:sp>
      <p:sp>
        <p:nvSpPr>
          <p:cNvPr id="23" name="Titre 1">
            <a:extLst>
              <a:ext uri="{FF2B5EF4-FFF2-40B4-BE49-F238E27FC236}">
                <a16:creationId xmlns:a16="http://schemas.microsoft.com/office/drawing/2014/main" id="{70F329AA-78F2-5BD0-1D32-45D3A60AF1E5}"/>
              </a:ext>
            </a:extLst>
          </p:cNvPr>
          <p:cNvSpPr txBox="1">
            <a:spLocks/>
          </p:cNvSpPr>
          <p:nvPr/>
        </p:nvSpPr>
        <p:spPr>
          <a:xfrm>
            <a:off x="5670924" y="4671512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fr-FR" sz="2000" dirty="0"/>
              <a:t>Étude de cas 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4406262F-D46A-F769-F93F-194D579FF505}"/>
              </a:ext>
            </a:extLst>
          </p:cNvPr>
          <p:cNvSpPr txBox="1">
            <a:spLocks/>
          </p:cNvSpPr>
          <p:nvPr/>
        </p:nvSpPr>
        <p:spPr>
          <a:xfrm>
            <a:off x="8330711" y="2359826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fr-FR" sz="2000" dirty="0"/>
              <a:t>Détail des postes : énergie, réseau (TURPE), taxes 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887A3485-E720-5CBF-B4B6-9927B4138552}"/>
              </a:ext>
            </a:extLst>
          </p:cNvPr>
          <p:cNvSpPr txBox="1">
            <a:spLocks/>
          </p:cNvSpPr>
          <p:nvPr/>
        </p:nvSpPr>
        <p:spPr>
          <a:xfrm>
            <a:off x="5670924" y="2229147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fr-FR" sz="2000" dirty="0"/>
              <a:t>Structure d’une facture 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2663C608-528A-5E16-68E0-A98D62AF9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2253" y="1209557"/>
            <a:ext cx="686440" cy="1161418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94FE8155-8B6A-D855-AB01-83E4D04DBF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6332" y="1209558"/>
            <a:ext cx="959714" cy="1161417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3A5E9459-7D77-1A0C-F294-889B8CAAAA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58433" y="1209557"/>
            <a:ext cx="936942" cy="1161418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83292277-B390-1AE2-C310-5DD4642632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65692" y="3663071"/>
            <a:ext cx="1161418" cy="1161418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3067046E-A654-50FC-F45A-3F75B04244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57980" y="3663071"/>
            <a:ext cx="1018274" cy="1161418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E900863C-F297-4163-CF60-5DF671A10A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47047" y="3663071"/>
            <a:ext cx="959714" cy="1161417"/>
          </a:xfrm>
          <a:prstGeom prst="rect">
            <a:avLst/>
          </a:prstGeom>
        </p:spPr>
      </p:pic>
      <p:sp>
        <p:nvSpPr>
          <p:cNvPr id="9" name="Espace réservé du numéro de diapositive 10">
            <a:extLst>
              <a:ext uri="{FF2B5EF4-FFF2-40B4-BE49-F238E27FC236}">
                <a16:creationId xmlns:a16="http://schemas.microsoft.com/office/drawing/2014/main" id="{85113AD8-20E7-1564-1A1E-04AE8F039D27}"/>
              </a:ext>
            </a:extLst>
          </p:cNvPr>
          <p:cNvSpPr txBox="1">
            <a:spLocks/>
          </p:cNvSpPr>
          <p:nvPr/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algn="r">
              <a:defRPr sz="1050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246C36-D02A-478A-A2B1-30A38C36882C}" type="slidenum">
              <a:rPr lang="fr-FR">
                <a:solidFill>
                  <a:schemeClr val="tx1">
                    <a:lumMod val="50000"/>
                  </a:schemeClr>
                </a:solidFill>
              </a:rPr>
              <a:pPr/>
              <a:t>2</a:t>
            </a:fld>
            <a:endParaRPr lang="fr-FR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71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CA750865-48C6-ED0A-A0FA-BF5B6E3F6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2478" y="498338"/>
            <a:ext cx="8459343" cy="2875237"/>
          </a:xfrm>
        </p:spPr>
        <p:txBody>
          <a:bodyPr/>
          <a:lstStyle/>
          <a:p>
            <a:r>
              <a:rPr lang="fr-FR" sz="5400" dirty="0"/>
              <a:t>Contexte du marché de l’électricité</a:t>
            </a:r>
            <a:endParaRPr lang="fr-FR" dirty="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F24A35A2-DA79-774C-9DA7-49506BCA1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0966" y="3871913"/>
            <a:ext cx="2029626" cy="3434012"/>
          </a:xfrm>
          <a:prstGeom prst="rect">
            <a:avLst/>
          </a:prstGeom>
        </p:spPr>
      </p:pic>
      <p:pic>
        <p:nvPicPr>
          <p:cNvPr id="6" name="Picture 2" descr="Réformer simplement le marché européen de l'électricité est possible |  ECHOSCIENCES - Grenoble">
            <a:extLst>
              <a:ext uri="{FF2B5EF4-FFF2-40B4-BE49-F238E27FC236}">
                <a16:creationId xmlns:a16="http://schemas.microsoft.com/office/drawing/2014/main" id="{D395709F-F0E9-BC8E-F8D4-F5A8B6AAA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5388" y="1354957"/>
            <a:ext cx="7319339" cy="3420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4C0152D-6633-2363-97C8-63A5A081EA89}"/>
              </a:ext>
            </a:extLst>
          </p:cNvPr>
          <p:cNvSpPr txBox="1"/>
          <p:nvPr/>
        </p:nvSpPr>
        <p:spPr>
          <a:xfrm>
            <a:off x="452256" y="4775271"/>
            <a:ext cx="95835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1800" noProof="0" dirty="0"/>
              <a:t>L’électricité : un bien marchand régulé. </a:t>
            </a:r>
          </a:p>
          <a:p>
            <a:r>
              <a:rPr lang="fr-FR" sz="1800" noProof="0" dirty="0"/>
              <a:t>Marché soumis à régulation et fiscalité. </a:t>
            </a:r>
          </a:p>
          <a:p>
            <a:r>
              <a:rPr lang="fr-FR" sz="1800" noProof="0" dirty="0"/>
              <a:t>Coûts répartis entre production, transport, distribution, taxes. </a:t>
            </a:r>
          </a:p>
          <a:p>
            <a:pPr marL="0" indent="0">
              <a:buNone/>
            </a:pPr>
            <a:r>
              <a:rPr lang="fr-FR" sz="1800" noProof="0" dirty="0"/>
              <a:t>Pourquoi comprendre sa facture ? </a:t>
            </a:r>
          </a:p>
          <a:p>
            <a:pPr marL="0" indent="0">
              <a:buNone/>
            </a:pPr>
            <a:r>
              <a:rPr lang="fr-FR" sz="1800" noProof="0" dirty="0"/>
              <a:t>	→ Optimiser ses coûts, choisir son fournisseur, adapter sa puissance et sa consommation.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F1C5FBF0-514A-BFAC-8A41-F5B104C3D8D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-33548" y="598179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A6235DB-A401-7C13-245D-C02F11AF3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0866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Police, logiciel&#10;&#10;Le contenu généré par l’IA peut être incorrect.">
            <a:extLst>
              <a:ext uri="{FF2B5EF4-FFF2-40B4-BE49-F238E27FC236}">
                <a16:creationId xmlns:a16="http://schemas.microsoft.com/office/drawing/2014/main" id="{2740D767-95E6-B036-E53E-5BFC7FC8F7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88" t="1" r="-4" b="14993"/>
          <a:stretch>
            <a:fillRect/>
          </a:stretch>
        </p:blipFill>
        <p:spPr>
          <a:xfrm>
            <a:off x="727426" y="2019729"/>
            <a:ext cx="3802343" cy="4559884"/>
          </a:xfrm>
          <a:prstGeom prst="rect">
            <a:avLst/>
          </a:prstGeom>
        </p:spPr>
      </p:pic>
      <p:pic>
        <p:nvPicPr>
          <p:cNvPr id="6" name="Image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7FD12A66-144E-0160-41EB-9D57ADAAF4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18" r="-2" b="9960"/>
          <a:stretch>
            <a:fillRect/>
          </a:stretch>
        </p:blipFill>
        <p:spPr>
          <a:xfrm>
            <a:off x="4484318" y="1926842"/>
            <a:ext cx="3892152" cy="4937508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DCB06BD3-1DD7-4555-F358-44FF0CFBF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5231" y="271266"/>
            <a:ext cx="8459343" cy="2875237"/>
          </a:xfrm>
        </p:spPr>
        <p:txBody>
          <a:bodyPr/>
          <a:lstStyle/>
          <a:p>
            <a:r>
              <a:rPr lang="fr-FR" sz="5400" dirty="0">
                <a:solidFill>
                  <a:schemeClr val="tx1"/>
                </a:solidFill>
              </a:rPr>
              <a:t>Architecture générale d’une facture électrique</a:t>
            </a:r>
            <a:endParaRPr lang="fr-FR" dirty="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B3D3C079-46C6-6A32-C8E6-9AF521840B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5929" y="3928356"/>
            <a:ext cx="2837630" cy="3434013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DC3C2545-87A3-A6AD-E8E3-A38F427B09F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-33548" y="598179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90AD3F7-513B-E7D9-15B1-F51781AD5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69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20B040-AA54-131F-CF9B-6ED6447E1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fr-FR" sz="5400" dirty="0"/>
              <a:t>Détail des postes : énergie, réseau (TURPE), taxes 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F2877BF-500C-33BE-25F1-FFA5837CB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2766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AB208-F05E-AAA8-FC77-3B8AD29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FFFF"/>
                </a:solidFill>
              </a:rPr>
              <a:t>Le poste « Énergie »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0C5FCC-989B-7D83-7691-1DE4F89C8B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4764" y="1504335"/>
            <a:ext cx="5214577" cy="4566550"/>
          </a:xfrm>
        </p:spPr>
        <p:txBody>
          <a:bodyPr/>
          <a:lstStyle/>
          <a:p>
            <a:r>
              <a:rPr lang="fr-FR" sz="2000" dirty="0"/>
              <a:t>Reflète le coût de fourniture du kWh </a:t>
            </a:r>
          </a:p>
          <a:p>
            <a:r>
              <a:rPr lang="fr-FR" sz="2000" dirty="0"/>
              <a:t>(achat + marge fournisseur). </a:t>
            </a:r>
          </a:p>
          <a:p>
            <a:endParaRPr lang="fr-F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 Dépend de : type d’offre (régulée / marché), indexation, profil de conso.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Inclut parfois des composantes “énergies renouvelables”.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000" dirty="0"/>
          </a:p>
          <a:p>
            <a:r>
              <a:rPr lang="fr-FR" sz="2000" dirty="0">
                <a:sym typeface="Wingdings" panose="05000000000000000000" pitchFamily="2" charset="2"/>
              </a:rPr>
              <a:t> </a:t>
            </a:r>
            <a:r>
              <a:rPr lang="fr-FR" sz="2000" dirty="0"/>
              <a:t>Enjeux : comparer les offres, comprendre les indexations.</a:t>
            </a:r>
          </a:p>
          <a:p>
            <a:endParaRPr lang="fr-FR" dirty="0"/>
          </a:p>
        </p:txBody>
      </p:sp>
      <p:pic>
        <p:nvPicPr>
          <p:cNvPr id="5" name="Picture 4" descr="Offres d'électricité pour les professionnels : comparatif 2025">
            <a:extLst>
              <a:ext uri="{FF2B5EF4-FFF2-40B4-BE49-F238E27FC236}">
                <a16:creationId xmlns:a16="http://schemas.microsoft.com/office/drawing/2014/main" id="{F91186D5-999E-FA15-D90A-10994A817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17692" y="787114"/>
            <a:ext cx="5382226" cy="5283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E6FDF015-162D-DA44-0CA3-C0F28613A9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1D48148-D0A3-D2FC-038C-9C6961D36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0114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EB511-6AAA-2E62-0C82-E456456D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FA9B8-7E5B-4E64-86B6-F6F2AA3A7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poste « Acheminement / Réseau / TURPE »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1F141A-FA5D-DF7E-B9AA-AB4A71E68F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4764" y="1504335"/>
            <a:ext cx="5214577" cy="4566550"/>
          </a:xfrm>
        </p:spPr>
        <p:txBody>
          <a:bodyPr/>
          <a:lstStyle/>
          <a:p>
            <a:r>
              <a:rPr lang="fr-FR" sz="2000" dirty="0"/>
              <a:t>TURPE : Tarif d’Utilisation des Réseaux Publics d’Électricité et est composé de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Financement du réseau (RTE / Enedis)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Composantes : soutirage, comptage, gestion, prestations techniques.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Fixé par la CRE sur périodes pluriannuelles (TURPE 7 : 2025–2028). 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fr-FR" sz="2000" dirty="0"/>
              <a:t>Représente jusqu’à 30–40 % de la facture.</a:t>
            </a:r>
          </a:p>
          <a:p>
            <a:endParaRPr lang="fr-FR" sz="2000" dirty="0"/>
          </a:p>
          <a:p>
            <a:r>
              <a:rPr lang="fr-FR" sz="2000" dirty="0"/>
              <a:t>FTA :  Formule tarifaire d’acheminement</a:t>
            </a:r>
          </a:p>
          <a:p>
            <a:endParaRPr lang="fr-FR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AEF22A1-773B-56D0-5904-DF101ECAA3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'évolution du TURPE va augmenter la facture d'électricité">
            <a:extLst>
              <a:ext uri="{FF2B5EF4-FFF2-40B4-BE49-F238E27FC236}">
                <a16:creationId xmlns:a16="http://schemas.microsoft.com/office/drawing/2014/main" id="{B9541E67-D41B-2738-8BDD-FFCD45856D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09" b="2"/>
          <a:stretch>
            <a:fillRect/>
          </a:stretch>
        </p:blipFill>
        <p:spPr bwMode="auto">
          <a:xfrm>
            <a:off x="5867415" y="1086202"/>
            <a:ext cx="6128563" cy="4984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3DCE9B-6F7F-33A3-962E-A46590229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542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EFF1F-316C-8158-DE69-582B4D6C9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0DE634-08AE-B4C6-71F5-ABE7376CA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Détail des composantes du TURPE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E41C04-388D-8FD4-A70B-A2817659F7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4764" y="1504335"/>
            <a:ext cx="7080957" cy="4566550"/>
          </a:xfrm>
        </p:spPr>
        <p:txBody>
          <a:bodyPr/>
          <a:lstStyle/>
          <a:p>
            <a:r>
              <a:rPr lang="fr-FR" sz="2000" dirty="0"/>
              <a:t>Soutirage : part variable (kWh consommés)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Comptage : coûts des compteurs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Gestion : facturation, service client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Prestations techniques : dépassement, relevés spécifiques </a:t>
            </a:r>
          </a:p>
          <a:p>
            <a:r>
              <a:rPr lang="fr-FR" sz="2000" dirty="0"/>
              <a:t>Certaines composantes = fixes (abonnement)</a:t>
            </a:r>
          </a:p>
          <a:p>
            <a:r>
              <a:rPr lang="fr-FR" sz="2000" dirty="0"/>
              <a:t>D’autres = variables selon l’usage.</a:t>
            </a:r>
          </a:p>
          <a:p>
            <a:endParaRPr lang="fr-FR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F40FED1-08EF-4E6D-3A69-91211BAB51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Les nouveaux barèmes du TURPE 7 applicables en août 2025">
            <a:extLst>
              <a:ext uri="{FF2B5EF4-FFF2-40B4-BE49-F238E27FC236}">
                <a16:creationId xmlns:a16="http://schemas.microsoft.com/office/drawing/2014/main" id="{5D81E994-6F70-C684-4ECD-D81675E5D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35205" y="3646037"/>
            <a:ext cx="6830559" cy="2424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02BB5E-3DC8-A9C9-21B0-CF8555067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9552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0B2D5-6658-7FD4-CCD0-46143E3C0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AC78A0-52AC-E8EA-8CAF-69B8A73CB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FFFF"/>
                </a:solidFill>
              </a:rPr>
              <a:t>Fonctionnement du TURPE</a:t>
            </a:r>
            <a:endParaRPr lang="fr-FR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8E6CD55-0876-CA95-2A81-4FD6CA6C04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pact TURPE 6">
            <a:extLst>
              <a:ext uri="{FF2B5EF4-FFF2-40B4-BE49-F238E27FC236}">
                <a16:creationId xmlns:a16="http://schemas.microsoft.com/office/drawing/2014/main" id="{B028821E-F703-EBDF-C4EE-9D7922C36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2225" y="1483327"/>
            <a:ext cx="11327549" cy="3891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782EE0C-EABC-FE6C-9629-062A303CD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1310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BCA3A-0427-4726-2F62-D55EFB4DF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459C13-9556-7408-63EE-25B47707A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Taxes &amp; contributions : aperçu général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4CF3F6B8-5E21-E400-BCC5-3AAA7EA6A6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0" descr="Comment lire sa facture d'électricité ? - FHE">
            <a:extLst>
              <a:ext uri="{FF2B5EF4-FFF2-40B4-BE49-F238E27FC236}">
                <a16:creationId xmlns:a16="http://schemas.microsoft.com/office/drawing/2014/main" id="{D4967F55-DDDC-8488-919D-73A214EE0C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" t="-128" b="33200"/>
          <a:stretch>
            <a:fillRect/>
          </a:stretch>
        </p:blipFill>
        <p:spPr bwMode="auto">
          <a:xfrm>
            <a:off x="6096000" y="1545364"/>
            <a:ext cx="5551311" cy="4471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3E30DF1F-9F3E-35CC-054E-7B78C15105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4764" y="1504335"/>
            <a:ext cx="5364891" cy="4566550"/>
          </a:xfrm>
        </p:spPr>
        <p:txBody>
          <a:bodyPr/>
          <a:lstStyle/>
          <a:p>
            <a:r>
              <a:rPr lang="fr-FR" sz="2000" dirty="0"/>
              <a:t>Principales taxes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Accise sur l’électricité (ex CSPE / TICFE)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Contribution Tarifaire d’Acheminement (CTA)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TVA </a:t>
            </a:r>
          </a:p>
          <a:p>
            <a:r>
              <a:rPr lang="fr-FR" sz="2000" dirty="0">
                <a:sym typeface="Wingdings" panose="05000000000000000000" pitchFamily="2" charset="2"/>
              </a:rPr>
              <a:t> Le</a:t>
            </a:r>
            <a:r>
              <a:rPr lang="fr-FR" sz="2000" dirty="0"/>
              <a:t>s anciennes taxes locales TCFE ont été intégrées à l’accise depuis 2023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1ABA7D-FF4D-8ABD-E7B9-1B83499CF44E}"/>
              </a:ext>
            </a:extLst>
          </p:cNvPr>
          <p:cNvSpPr/>
          <p:nvPr/>
        </p:nvSpPr>
        <p:spPr>
          <a:xfrm>
            <a:off x="6096000" y="4083485"/>
            <a:ext cx="5551311" cy="7515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0B6972-BC03-4E45-4B01-EC9A2D992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6739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B3D19-E84A-8214-E9FE-32A97C261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5E4FDA-5C8A-FB8D-8F18-C0229BE5E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L’accise (ex CSPE / TICFE)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7C575BC7-EE16-ABC7-EB40-18B407ECCD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34DC3B2A-73BF-B0E5-49AE-32E2D19B97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4764" y="1504335"/>
            <a:ext cx="7369055" cy="4566550"/>
          </a:xfrm>
        </p:spPr>
        <p:txBody>
          <a:bodyPr/>
          <a:lstStyle/>
          <a:p>
            <a:r>
              <a:rPr lang="fr-FR" sz="2000" dirty="0"/>
              <a:t>L’accise sur l’électricité est une taxe sur la consommation d’électricité, collectée par les fournisseurs.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Intègre désormais les anciennes taxes locales.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Soumise à la TVA.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Taux variable selon catégorie d’usager. </a:t>
            </a:r>
          </a:p>
          <a:p>
            <a:r>
              <a:rPr lang="fr-FR" sz="2000" dirty="0">
                <a:sym typeface="Wingdings" panose="05000000000000000000" pitchFamily="2" charset="2"/>
              </a:rPr>
              <a:t></a:t>
            </a:r>
            <a:r>
              <a:rPr lang="fr-FR" sz="2000" dirty="0"/>
              <a:t> Depuis août 2025 : harmonisation fiscale.</a:t>
            </a:r>
          </a:p>
          <a:p>
            <a:endParaRPr lang="fr-FR" sz="2000" dirty="0"/>
          </a:p>
        </p:txBody>
      </p:sp>
      <p:pic>
        <p:nvPicPr>
          <p:cNvPr id="9" name="Picture 2" descr="Accise sur l'électricité : ce qui change en 2025">
            <a:extLst>
              <a:ext uri="{FF2B5EF4-FFF2-40B4-BE49-F238E27FC236}">
                <a16:creationId xmlns:a16="http://schemas.microsoft.com/office/drawing/2014/main" id="{3C69569A-BA2C-C4CB-516D-665E31ACA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84734" y="4015906"/>
            <a:ext cx="6888796" cy="244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BFE5C4F7-C308-819A-DA19-E6464BC9A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83335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7F61E-78F8-5E6E-BF3C-F9F559208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06D7DE-E393-E68D-F0ED-78B45D387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CTA (Contribution Tarifaire d’Acheminement)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D5396C27-FB55-5C10-7152-D4931810FAC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9F273532-DC1D-D85E-A882-07B9A6956E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4764" y="1504335"/>
            <a:ext cx="7369055" cy="456655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Finance la retraite des personnels des industries électriques et gazières.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Calculée sur la part fixe du TURPE (abonnement et frais fixes d’acheminement).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Taux de la CTA : 21,93 % depuis 2021.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TVA de 20 % appliquée depuis 2025.</a:t>
            </a:r>
          </a:p>
        </p:txBody>
      </p:sp>
      <p:pic>
        <p:nvPicPr>
          <p:cNvPr id="3" name="Picture 2" descr="CTA (Contribution Tarifaire d'Acheminement) : montant 2025">
            <a:extLst>
              <a:ext uri="{FF2B5EF4-FFF2-40B4-BE49-F238E27FC236}">
                <a16:creationId xmlns:a16="http://schemas.microsoft.com/office/drawing/2014/main" id="{E041C3F8-4EF1-89BA-FA3E-C6D983F7F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9453" y="3933174"/>
            <a:ext cx="6832678" cy="24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72C54-FD54-51FF-E809-84B850A42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9162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3042C-39B9-1BBD-AAE2-F91B5C03C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354E52-6D5A-2985-BC82-43ADC2A77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TVA sur l’électricité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8C1F9071-2BCA-ECCE-0639-A57FC7D4B3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7340DE2C-F969-59BF-0A0C-A34E69534D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4764" y="1504335"/>
            <a:ext cx="7369055" cy="4566550"/>
          </a:xfrm>
        </p:spPr>
        <p:txBody>
          <a:bodyPr/>
          <a:lstStyle/>
          <a:p>
            <a:r>
              <a:rPr lang="fr-FR" sz="2000" dirty="0"/>
              <a:t>S’applique sur tous les éléments (abonnement, consommation, taxes). </a:t>
            </a:r>
          </a:p>
          <a:p>
            <a:r>
              <a:rPr lang="fr-FR" sz="2000" dirty="0"/>
              <a:t>Historiquement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Puissance ≤ 36 kVA : abonnement + CTA à 5,5 %, consommation + accise à 20 %.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Puissances &gt; 36 kVA : taux plein de 20 % sur l’ensemble de la facture.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Depuis 2025 : taux unique de 20 %.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En entreprise : TVA déductible. </a:t>
            </a:r>
          </a:p>
          <a:p>
            <a:r>
              <a:rPr lang="fr-FR" sz="2000" dirty="0">
                <a:sym typeface="Wingdings" panose="05000000000000000000" pitchFamily="2" charset="2"/>
              </a:rPr>
              <a:t></a:t>
            </a:r>
            <a:r>
              <a:rPr lang="fr-FR" sz="2000" dirty="0"/>
              <a:t> Vérifier toujours les montants HT et TTC.</a:t>
            </a:r>
          </a:p>
          <a:p>
            <a:endParaRPr lang="fr-FR" sz="1500" dirty="0"/>
          </a:p>
        </p:txBody>
      </p:sp>
      <p:pic>
        <p:nvPicPr>
          <p:cNvPr id="5" name="Picture 2" descr="La TVA sur l'abonnement énergétique à 20 % dès août 2025">
            <a:extLst>
              <a:ext uri="{FF2B5EF4-FFF2-40B4-BE49-F238E27FC236}">
                <a16:creationId xmlns:a16="http://schemas.microsoft.com/office/drawing/2014/main" id="{39517AB0-7AAF-BB65-7C5A-C8B2AB0C3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16926" y="3782860"/>
            <a:ext cx="4945118" cy="257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04DD06-B690-4FA5-0645-8EED1168D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3429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B6DE7-6720-A511-298C-A3CD5D43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A1A15F-9400-DFDE-E9D5-2E005C300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FFFF"/>
                </a:solidFill>
              </a:rPr>
              <a:t>Répartition de la facture</a:t>
            </a:r>
            <a:endParaRPr lang="fr-FR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8EA5A51-C2C8-ED9D-C69E-DA6195F646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57FD61FC-385A-A642-E353-51E5A6C79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23978" y="1906613"/>
            <a:ext cx="10268045" cy="445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110A0D-6DEF-50FC-5E11-79E33E80D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363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06451E9-87D3-EA59-DD64-3F75AC51D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5" r="537"/>
          <a:stretch>
            <a:fillRect/>
          </a:stretch>
        </p:blipFill>
        <p:spPr>
          <a:xfrm>
            <a:off x="0" y="1481054"/>
            <a:ext cx="3971702" cy="328597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FEC89B9-1153-E508-EA43-FC73665DCA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13" r="-1948"/>
          <a:stretch>
            <a:fillRect/>
          </a:stretch>
        </p:blipFill>
        <p:spPr>
          <a:xfrm>
            <a:off x="3971702" y="1484336"/>
            <a:ext cx="4579713" cy="4937508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5C2989E1-AABC-0D12-63D7-AB2E529B2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952" y="436156"/>
            <a:ext cx="8459343" cy="2875237"/>
          </a:xfrm>
        </p:spPr>
        <p:txBody>
          <a:bodyPr/>
          <a:lstStyle/>
          <a:p>
            <a:r>
              <a:rPr lang="fr-FR" sz="5400" dirty="0">
                <a:solidFill>
                  <a:schemeClr val="tx1"/>
                </a:solidFill>
              </a:rPr>
              <a:t>facture de gaz</a:t>
            </a:r>
            <a:endParaRPr lang="fr-FR" dirty="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EC53741F-200B-0CAE-BE64-DA56E18147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1206" y="3871912"/>
            <a:ext cx="3406395" cy="3406395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66FA69D2-944A-9BD8-2AE6-B5676BBC255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80564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347DD358-5D96-F44E-F49D-E092521B5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680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198BE-DB4F-6AA5-6257-FE62B47E5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00C5A-E23A-3335-3E26-E6346D078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FFFF"/>
                </a:solidFill>
              </a:rPr>
              <a:t>La conversion kWh/m³</a:t>
            </a:r>
            <a:endParaRPr lang="fr-FR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AA074BE3-8F4B-FA8A-5E5D-1403E52920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ce réservé du texte 2">
                <a:extLst>
                  <a:ext uri="{FF2B5EF4-FFF2-40B4-BE49-F238E27FC236}">
                    <a16:creationId xmlns:a16="http://schemas.microsoft.com/office/drawing/2014/main" id="{9594C56F-4452-A595-612D-1308227D2DFC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1173695" y="1629596"/>
                <a:ext cx="7369055" cy="4566550"/>
              </a:xfrm>
            </p:spPr>
            <p:txBody>
              <a:bodyPr>
                <a:normAutofit/>
              </a:bodyPr>
              <a:lstStyle/>
              <a:p>
                <a:r>
                  <a:rPr lang="fr-FR" sz="2000" dirty="0"/>
                  <a:t>Le compteur de gaz mesure en m³</a:t>
                </a:r>
              </a:p>
              <a:p>
                <a:r>
                  <a:rPr lang="fr-FR" sz="2000" dirty="0"/>
                  <a:t>Facturation en kWh PCI</a:t>
                </a:r>
              </a:p>
              <a:p>
                <a:r>
                  <a:rPr lang="fr-FR" sz="2000" dirty="0"/>
                  <a:t>Conversion 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i="1">
                          <a:latin typeface="Cambria Math" panose="02040503050406030204" pitchFamily="18" charset="0"/>
                        </a:rPr>
                        <m:t>𝑘𝑊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fr-FR" sz="20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ar-AE" sz="20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𝐶𝑜𝑒𝑓𝑓𝑖𝑐𝑖𝑒𝑛𝑡𝑑𝑒𝑐𝑜𝑛𝑣𝑒𝑟𝑠𝑖𝑜𝑛</m:t>
                      </m:r>
                    </m:oMath>
                  </m:oMathPara>
                </a14:m>
                <a:endParaRPr lang="ar-AE" sz="2000" dirty="0"/>
              </a:p>
              <a:p>
                <a:r>
                  <a:rPr lang="fr-FR" sz="2000" dirty="0"/>
                  <a:t>Ce coefficient dépend du pouvoir calorifique du gaz et de la région</a:t>
                </a:r>
              </a:p>
            </p:txBody>
          </p:sp>
        </mc:Choice>
        <mc:Fallback xmlns="">
          <p:sp>
            <p:nvSpPr>
              <p:cNvPr id="4" name="Espace réservé du texte 2">
                <a:extLst>
                  <a:ext uri="{FF2B5EF4-FFF2-40B4-BE49-F238E27FC236}">
                    <a16:creationId xmlns:a16="http://schemas.microsoft.com/office/drawing/2014/main" id="{9594C56F-4452-A595-612D-1308227D2D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1173695" y="1629596"/>
                <a:ext cx="7369055" cy="4566550"/>
              </a:xfrm>
              <a:blipFill>
                <a:blip r:embed="rId3"/>
                <a:stretch>
                  <a:fillRect l="-745" t="-1202" r="-9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FC30C85-D8C1-05BC-F87B-9F9AAAAF0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320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19F7815-3AA2-7679-26F4-A63338C8B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668" y="4843169"/>
            <a:ext cx="12196668" cy="2016059"/>
            <a:chOff x="-4668" y="4843169"/>
            <a:chExt cx="12196668" cy="2016059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56154CE-3587-5C44-2A6B-1FE49B302C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4668" y="4843169"/>
              <a:ext cx="12196668" cy="2015947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E7A46DB-98C4-E666-AEC5-DF8B5DD9E7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4668" y="4844400"/>
              <a:ext cx="10565988" cy="2014828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9F8962A-028A-2EBA-FBCF-F9B0334400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4668" y="4843170"/>
              <a:ext cx="10309010" cy="2006799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F139663-D7C2-5898-E610-2183584AC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05876" y="4851203"/>
              <a:ext cx="8086124" cy="200679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noProof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318A3DCF-D7D0-9B0C-C992-5D5D974C5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630" y="5167418"/>
            <a:ext cx="8949690" cy="7022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fr-FR" sz="3600" kern="1200" noProof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Vidéo « Comprendre sa facture d’électricité »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A79BA2-1E57-687D-D6F1-64B520454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861" y="5891829"/>
            <a:ext cx="8949690" cy="5046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fr-FR" sz="1800" kern="1200" noProof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https://www.youtube.com/watch?v=jytW2MGxYjU</a:t>
            </a:r>
          </a:p>
        </p:txBody>
      </p:sp>
      <p:pic>
        <p:nvPicPr>
          <p:cNvPr id="6" name="Média en ligne 5" title="Comprendre sa facture d’électricité et de gaz">
            <a:hlinkClick r:id="" action="ppaction://media"/>
            <a:extLst>
              <a:ext uri="{FF2B5EF4-FFF2-40B4-BE49-F238E27FC236}">
                <a16:creationId xmlns:a16="http://schemas.microsoft.com/office/drawing/2014/main" id="{5FD2866B-BEB2-2CF5-1C42-BE74042444C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649117" y="461527"/>
            <a:ext cx="6893766" cy="3894978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EDF98D-27A4-0C83-1B01-F59819418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47747AE-F884-4572-99DF-3B748780C110}" type="slidenum">
              <a:rPr lang="fr-FR" noProof="0" smtClean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17</a:t>
            </a:fld>
            <a:endParaRPr lang="fr-FR" noProof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64DF31-3D6E-2827-5462-FF576EB7B83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20247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215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FFF28615-1352-B436-1CEA-87A1D271BFC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1939E0A-3796-5218-1D39-5F24FC41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d’étude « Facture »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9945D02B-8CB1-947A-CBB1-327049B07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123" y="3871912"/>
            <a:ext cx="2986559" cy="3406395"/>
          </a:xfrm>
          <a:prstGeom prst="rect">
            <a:avLst/>
          </a:prstGeom>
        </p:spPr>
      </p:pic>
      <p:pic>
        <p:nvPicPr>
          <p:cNvPr id="5" name="Picture 2" descr="Facture d'électricité : lire et comprendre les informations">
            <a:extLst>
              <a:ext uri="{FF2B5EF4-FFF2-40B4-BE49-F238E27FC236}">
                <a16:creationId xmlns:a16="http://schemas.microsoft.com/office/drawing/2014/main" id="{5B3FFE84-9987-EC4B-19CE-BF6F99CC0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0025" y="2186458"/>
            <a:ext cx="8345670" cy="2966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0B582B7-6458-DC96-A4AD-2E5BC9D8DFB5}"/>
              </a:ext>
            </a:extLst>
          </p:cNvPr>
          <p:cNvSpPr txBox="1"/>
          <p:nvPr/>
        </p:nvSpPr>
        <p:spPr>
          <a:xfrm>
            <a:off x="1449641" y="5985485"/>
            <a:ext cx="6106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FR" sz="1800" kern="1200" noProof="0" dirty="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Réaliser le TD sur la facture électrique </a:t>
            </a:r>
            <a:r>
              <a:rPr lang="fr-FR" sz="1800" noProof="0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fr-FR" dirty="0">
                <a:solidFill>
                  <a:srgbClr val="FFFFFF"/>
                </a:solidFill>
                <a:highlight>
                  <a:srgbClr val="FF4610"/>
                </a:highlight>
                <a:latin typeface="+mj-lt"/>
                <a:ea typeface="+mj-ea"/>
                <a:cs typeface="+mj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Cliquer ici</a:t>
            </a:r>
            <a:endParaRPr lang="fr-FR" dirty="0">
              <a:solidFill>
                <a:srgbClr val="FFFFFF"/>
              </a:solidFill>
              <a:highlight>
                <a:srgbClr val="FF4610"/>
              </a:highlight>
              <a:latin typeface="+mj-lt"/>
              <a:ea typeface="+mj-ea"/>
              <a:cs typeface="+mj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603DB441-84CF-2AA5-CB9F-6C264A6A116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6684F2C1-B486-F8BF-1A3E-336D4C669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975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B4E0A-EBA8-F1FB-4DDA-387ADE084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4DE46B-5711-77D3-9111-79E02F11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particulier : entreprises / sites haute puissance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0A94415-6FBA-F60D-E582-751EB12CB6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78C06828-7016-CA91-1900-9B24ED0DE0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63013" y="3975279"/>
            <a:ext cx="6830466" cy="2733687"/>
          </a:xfrm>
        </p:spPr>
        <p:txBody>
          <a:bodyPr>
            <a:normAutofit/>
          </a:bodyPr>
          <a:lstStyle/>
          <a:p>
            <a:r>
              <a:rPr lang="fr-FR" sz="2000" dirty="0">
                <a:sym typeface="Wingdings" panose="05000000000000000000" pitchFamily="2" charset="2"/>
              </a:rPr>
              <a:t> </a:t>
            </a:r>
            <a:r>
              <a:rPr lang="fr-FR" sz="2000" dirty="0"/>
              <a:t>Sensibilisation aux enjeux économiques et réglementaires, l’impact du réseau de transport (HTB) est non négligeable</a:t>
            </a:r>
          </a:p>
        </p:txBody>
      </p:sp>
      <p:graphicFrame>
        <p:nvGraphicFramePr>
          <p:cNvPr id="3" name="Espace réservé du contenu 2">
            <a:extLst>
              <a:ext uri="{FF2B5EF4-FFF2-40B4-BE49-F238E27FC236}">
                <a16:creationId xmlns:a16="http://schemas.microsoft.com/office/drawing/2014/main" id="{8D535249-0D9B-5EC9-1922-0A98F520C2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9130808"/>
              </p:ext>
            </p:extLst>
          </p:nvPr>
        </p:nvGraphicFramePr>
        <p:xfrm>
          <a:off x="838200" y="1825625"/>
          <a:ext cx="10515600" cy="1603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67A829B-0531-149F-B834-99D9969A8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1246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54D1A-7A96-A19A-18D3-BFE3A6FB0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7F3B00-7863-5A94-0E8C-3578C20F2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Sensibilisation aux évolutions (réformes, 2025)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8B913425-4885-F4C9-941B-CB0C2ABC18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17C4D076-1CF2-7D06-8D0A-47FD682C3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2207" y="2484681"/>
            <a:ext cx="5006039" cy="2733687"/>
          </a:xfrm>
        </p:spPr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TURPE 7 : nouveau barème 2025–2028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Harmonisation de la TVA (20 %)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Intégration des anciennes taxes locales (TCFE) dans l’accise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Réformes incitant à la flexibilité énergétique.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/>
          </a:p>
          <a:p>
            <a:r>
              <a:rPr lang="fr-FR" sz="2000" dirty="0">
                <a:sym typeface="Wingdings" panose="05000000000000000000" pitchFamily="2" charset="2"/>
              </a:rPr>
              <a:t> L’harmonisation de la TVA à 20% amène à une augmentation de la facture d’électricité</a:t>
            </a:r>
            <a:endParaRPr lang="fr-FR" sz="2000" dirty="0"/>
          </a:p>
        </p:txBody>
      </p:sp>
      <p:pic>
        <p:nvPicPr>
          <p:cNvPr id="5" name="Picture 2" descr="Guide complet du TURPE 7 : tarifs, réglementation et impacts pour les  professionnels">
            <a:extLst>
              <a:ext uri="{FF2B5EF4-FFF2-40B4-BE49-F238E27FC236}">
                <a16:creationId xmlns:a16="http://schemas.microsoft.com/office/drawing/2014/main" id="{13121E51-8591-58F8-3FCD-062EF79E9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7" r="27472" b="1"/>
          <a:stretch>
            <a:fillRect/>
          </a:stretch>
        </p:blipFill>
        <p:spPr bwMode="auto">
          <a:xfrm>
            <a:off x="6096000" y="1541817"/>
            <a:ext cx="5632610" cy="4433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707A94-2904-7D31-374E-705FDD004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6531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B690F-B792-143C-557B-69EAE9407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608976-D8CE-66E4-A9EA-A637C5AD7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Limites, pièges et précautions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BAA57F19-8097-4AA7-2A9A-992C491CD0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58636077-EA58-6C72-5054-15F0362152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2206" y="1828800"/>
            <a:ext cx="7356561" cy="3908121"/>
          </a:xfrm>
        </p:spPr>
        <p:txBody>
          <a:bodyPr>
            <a:normAutofit/>
          </a:bodyPr>
          <a:lstStyle/>
          <a:p>
            <a:r>
              <a:rPr lang="fr-FR" sz="2000" dirty="0"/>
              <a:t>Points de vigilance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Erreurs de relevé ou de calcul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Mauvais paramétrage heures creuses / pleines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Dépassement de puissance non anticipé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Contrat long terme : clause d’indexation complexe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Manque de transparence sur les taxes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Pour les entreprises : vérification de l’éligibilité à des réductions / exonérations </a:t>
            </a:r>
          </a:p>
          <a:p>
            <a:r>
              <a:rPr lang="fr-FR" sz="2000" dirty="0">
                <a:sym typeface="Wingdings" panose="05000000000000000000" pitchFamily="2" charset="2"/>
              </a:rPr>
              <a:t> </a:t>
            </a:r>
            <a:r>
              <a:rPr lang="fr-FR" sz="2000" dirty="0"/>
              <a:t>Développer un esprit critique.</a:t>
            </a:r>
          </a:p>
          <a:p>
            <a:endParaRPr lang="fr-FR" sz="2000" dirty="0"/>
          </a:p>
        </p:txBody>
      </p:sp>
      <p:pic>
        <p:nvPicPr>
          <p:cNvPr id="3" name="Picture 2" descr="EDF : Un message d'alerte envoyé à des millions de Français">
            <a:extLst>
              <a:ext uri="{FF2B5EF4-FFF2-40B4-BE49-F238E27FC236}">
                <a16:creationId xmlns:a16="http://schemas.microsoft.com/office/drawing/2014/main" id="{7B091EF8-4D28-910C-D97D-216948550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9882" y="1181697"/>
            <a:ext cx="3714480" cy="2471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4FDDD7-1BFC-CCCB-4FFF-5C36613F2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559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B5D3647A-3E0D-E211-B051-5E15A5AE6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438F06C-5A5A-3675-276B-347E372F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4900" y="582718"/>
            <a:ext cx="8459343" cy="2875237"/>
          </a:xfrm>
        </p:spPr>
        <p:txBody>
          <a:bodyPr/>
          <a:lstStyle/>
          <a:p>
            <a:r>
              <a:rPr lang="fr-FR" sz="5400" dirty="0"/>
              <a:t>Conseils pratiques pour maîtriser sa facture</a:t>
            </a:r>
            <a:endParaRPr lang="fr-FR" dirty="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588611ED-7691-B086-C0D7-9AC4170A6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59435" y="3871912"/>
            <a:ext cx="2814808" cy="3406395"/>
          </a:xfrm>
          <a:prstGeom prst="rect">
            <a:avLst/>
          </a:prstGeom>
        </p:spPr>
      </p:pic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7F849087-6EE3-D000-ECC4-B9B0FDCD60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1731262"/>
              </p:ext>
            </p:extLst>
          </p:nvPr>
        </p:nvGraphicFramePr>
        <p:xfrm>
          <a:off x="-577651" y="2543646"/>
          <a:ext cx="10039472" cy="3438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" name="Picture 4">
            <a:extLst>
              <a:ext uri="{FF2B5EF4-FFF2-40B4-BE49-F238E27FC236}">
                <a16:creationId xmlns:a16="http://schemas.microsoft.com/office/drawing/2014/main" id="{8F882185-6712-7B7D-C651-62EED4D4589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8179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10BD49-CA60-0DA4-0F91-AE5D73021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238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80E2D-0515-A53A-848A-63B10B39F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D2FD3F70-7F29-F2B0-90A6-8BBB3E84D7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6FB06242-6F18-923C-311D-A01EAEDF8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590" y="1045313"/>
            <a:ext cx="11318619" cy="744724"/>
          </a:xfrm>
        </p:spPr>
        <p:txBody>
          <a:bodyPr/>
          <a:lstStyle/>
          <a:p>
            <a:r>
              <a:rPr lang="fr-FR" dirty="0">
                <a:solidFill>
                  <a:srgbClr val="FFFFFF"/>
                </a:solidFill>
              </a:rPr>
              <a:t>Bilan &amp; perspectives</a:t>
            </a:r>
            <a:endParaRPr lang="fr-FR" dirty="0"/>
          </a:p>
        </p:txBody>
      </p:sp>
      <p:graphicFrame>
        <p:nvGraphicFramePr>
          <p:cNvPr id="4" name="Espace réservé du contenu 2">
            <a:extLst>
              <a:ext uri="{FF2B5EF4-FFF2-40B4-BE49-F238E27FC236}">
                <a16:creationId xmlns:a16="http://schemas.microsoft.com/office/drawing/2014/main" id="{C9FD8DBF-884F-C03E-4274-289A3DFFF4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8356071"/>
              </p:ext>
            </p:extLst>
          </p:nvPr>
        </p:nvGraphicFramePr>
        <p:xfrm>
          <a:off x="1213981" y="1342632"/>
          <a:ext cx="9232203" cy="4172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D226D793-76DB-9581-CEDA-AE4BE377F6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01002" y="4715267"/>
            <a:ext cx="5623794" cy="16002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à"/>
            </a:pPr>
            <a:r>
              <a:rPr lang="fr-FR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Pour aller plus loin vous pouvez réaliser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ym typeface="Wingdings" panose="05000000000000000000" pitchFamily="2" charset="2"/>
              </a:rPr>
              <a:t>Un audit énergétique de votre site/logement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ym typeface="Wingdings" panose="05000000000000000000" pitchFamily="2" charset="2"/>
              </a:rPr>
              <a:t>Comparer les offres du marché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ym typeface="Wingdings" panose="05000000000000000000" pitchFamily="2" charset="2"/>
              </a:rPr>
              <a:t>Envisager des solutions de flexibilité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ym typeface="Wingdings" panose="05000000000000000000" pitchFamily="2" charset="2"/>
              </a:rPr>
              <a:t>Suivre les évolutions réglementaires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40E854E4-DF1C-CA42-465A-E65F2787597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3421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79A698F-D9FE-2AF5-0A9A-8C3BD64EA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453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937DA82-A80E-7761-4908-78FE12BC88A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14855" y="6309146"/>
            <a:ext cx="10906584" cy="536026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788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BB1CC2-B9A6-A569-BDE1-84EFB4D4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670"/>
            <a:ext cx="10515600" cy="1325563"/>
          </a:xfrm>
        </p:spPr>
        <p:txBody>
          <a:bodyPr/>
          <a:lstStyle/>
          <a:p>
            <a:r>
              <a:rPr lang="fr-FR" noProof="0"/>
              <a:t>Sources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95804A-45A7-860E-FB64-04CB86934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6170"/>
            <a:ext cx="11211838" cy="4351338"/>
          </a:xfrm>
        </p:spPr>
        <p:txBody>
          <a:bodyPr>
            <a:normAutofit fontScale="92500" lnSpcReduction="20000"/>
          </a:bodyPr>
          <a:lstStyle/>
          <a:p>
            <a:r>
              <a:rPr lang="fr-FR" u="sng" noProof="0">
                <a:hlinkClick r:id="rId3"/>
              </a:rPr>
              <a:t>EDF FR collectivité</a:t>
            </a:r>
            <a:r>
              <a:rPr lang="fr-FR" u="sng" noProof="0"/>
              <a:t>, </a:t>
            </a:r>
            <a:r>
              <a:rPr lang="fr-FR" u="sng" noProof="0">
                <a:hlinkClick r:id="rId4"/>
              </a:rPr>
              <a:t>EDF FR entreprise</a:t>
            </a:r>
            <a:r>
              <a:rPr lang="fr-FR" u="sng" noProof="0"/>
              <a:t>, </a:t>
            </a:r>
            <a:r>
              <a:rPr lang="fr-FR" u="sng" noProof="0">
                <a:hlinkClick r:id="rId5" tooltip="Taxes et contributions appliquées sur l'électricité - EDF"/>
              </a:rPr>
              <a:t>EDF FR taxes et contributions</a:t>
            </a:r>
            <a:endParaRPr lang="fr-FR" u="sng" noProof="0"/>
          </a:p>
          <a:p>
            <a:r>
              <a:rPr lang="fr-FR" u="sng" noProof="0">
                <a:hlinkClick r:id="rId6"/>
              </a:rPr>
              <a:t>entreprises-collectivites.engie.fr</a:t>
            </a:r>
            <a:endParaRPr lang="fr-FR" u="sng" noProof="0"/>
          </a:p>
          <a:p>
            <a:r>
              <a:rPr lang="fr-FR" u="sng" noProof="0">
                <a:hlinkClick r:id="rId7"/>
              </a:rPr>
              <a:t>EDF solutions solaires</a:t>
            </a:r>
            <a:endParaRPr lang="fr-FR" u="sng" noProof="0"/>
          </a:p>
          <a:p>
            <a:r>
              <a:rPr lang="fr-FR" u="sng" noProof="0">
                <a:hlinkClick r:id="rId8"/>
              </a:rPr>
              <a:t>https://alliancedesenergies.fr/evolution-turpe/</a:t>
            </a:r>
            <a:endParaRPr lang="fr-FR" u="sng" noProof="0"/>
          </a:p>
          <a:p>
            <a:r>
              <a:rPr lang="fr-FR" u="sng" noProof="0" err="1">
                <a:hlinkClick r:id="rId9"/>
              </a:rPr>
              <a:t>atoo-energie</a:t>
            </a:r>
            <a:endParaRPr lang="fr-FR" u="sng" noProof="0"/>
          </a:p>
          <a:p>
            <a:r>
              <a:rPr lang="fr-FR" u="sng" noProof="0">
                <a:hlinkClick r:id="rId10" tooltip="Augmentation taxes électricité en 2025 : impact sur la facture EDF"/>
              </a:rPr>
              <a:t>JeChange.fr</a:t>
            </a:r>
            <a:endParaRPr lang="fr-FR" u="sng" noProof="0"/>
          </a:p>
          <a:p>
            <a:r>
              <a:rPr lang="fr-FR" u="sng" noProof="0">
                <a:hlinkClick r:id="rId11" tooltip="TVA sur l'électricité : taux et déduction en entreprise - Opéra Energie"/>
              </a:rPr>
              <a:t>Opéra Energie</a:t>
            </a:r>
            <a:endParaRPr lang="fr-FR" u="sng" noProof="0"/>
          </a:p>
          <a:p>
            <a:r>
              <a:rPr lang="fr-FR" u="sng" noProof="0">
                <a:hlinkClick r:id="rId12"/>
              </a:rPr>
              <a:t>RSW</a:t>
            </a:r>
            <a:endParaRPr lang="fr-FR" u="sng" noProof="0"/>
          </a:p>
          <a:p>
            <a:r>
              <a:rPr lang="fr-FR" u="sng" noProof="0">
                <a:hlinkClick r:id="rId13" tooltip="Réduction de tarif d'utilisation du réseau public de transport d ..."/>
              </a:rPr>
              <a:t>Ministère de la Transition Écologique</a:t>
            </a:r>
            <a:endParaRPr lang="fr-FR" u="sng" noProof="0"/>
          </a:p>
          <a:p>
            <a:r>
              <a:rPr lang="fr-FR" noProof="0">
                <a:hlinkClick r:id="rId14"/>
              </a:rPr>
              <a:t>Que choisir ?</a:t>
            </a:r>
            <a:r>
              <a:rPr lang="fr-FR" noProof="0"/>
              <a:t> (facture de gaz)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C17F237-D580-404F-23CA-CC1457B75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36895"/>
            <a:ext cx="2743200" cy="365125"/>
          </a:xfrm>
        </p:spPr>
        <p:txBody>
          <a:bodyPr/>
          <a:lstStyle/>
          <a:p>
            <a:fld id="{C47747AE-F884-4572-99DF-3B748780C110}" type="slidenum">
              <a:rPr lang="fr-FR" noProof="0" smtClean="0"/>
              <a:t>25</a:t>
            </a:fld>
            <a:endParaRPr lang="fr-FR" noProof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9541437C-19B7-B9DA-2715-87ABC4752987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24061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8172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-COUVERTUR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3.xml><?xml version="1.0" encoding="utf-8"?>
<a:theme xmlns:a="http://schemas.openxmlformats.org/drawingml/2006/main" name="2-SOMMAIR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4.xml><?xml version="1.0" encoding="utf-8"?>
<a:theme xmlns:a="http://schemas.openxmlformats.org/drawingml/2006/main" name="3.2-CHAPITRES EXTERN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5.xml><?xml version="1.0" encoding="utf-8"?>
<a:theme xmlns:a="http://schemas.openxmlformats.org/drawingml/2006/main" name="4.1-Corpus INTERN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6.xml><?xml version="1.0" encoding="utf-8"?>
<a:theme xmlns:a="http://schemas.openxmlformats.org/drawingml/2006/main" name="3.1-CHAPITRES INTERN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7.xml><?xml version="1.0" encoding="utf-8"?>
<a:theme xmlns:a="http://schemas.openxmlformats.org/drawingml/2006/main" name="4.2-Corpus EXTERN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8.xml><?xml version="1.0" encoding="utf-8"?>
<a:theme xmlns:a="http://schemas.openxmlformats.org/drawingml/2006/main" name="5-Fin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9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  <wetp:taskpane dockstate="right" visibility="0" width="525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E937A98-06A5-4840-8B09-64C4AB41050A}">
  <we:reference id="wa200005566" version="3.0.0.3" store="fr-FR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3A8A710-D4C6-492D-8141-8A4E235E3304}">
  <we:reference id="wa200007130" version="1.0.0.1" store="fr-FR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63D34E541314F80CD24A648ABC5FB" ma:contentTypeVersion="7" ma:contentTypeDescription="Create a new document." ma:contentTypeScope="" ma:versionID="fe3c99d7a639c00420632a79ce9d5da4">
  <xsd:schema xmlns:xsd="http://www.w3.org/2001/XMLSchema" xmlns:xs="http://www.w3.org/2001/XMLSchema" xmlns:p="http://schemas.microsoft.com/office/2006/metadata/properties" xmlns:ns2="cd5233e2-74fb-488a-aed8-75637c784312" targetNamespace="http://schemas.microsoft.com/office/2006/metadata/properties" ma:root="true" ma:fieldsID="e0f7e7fd5fef82a93d029aca2c45b4b9" ns2:_="">
    <xsd:import namespace="cd5233e2-74fb-488a-aed8-75637c7843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5233e2-74fb-488a-aed8-75637c7843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4249CD-ACED-4D7C-93D6-85B52B7A2FAE}">
  <ds:schemaRefs>
    <ds:schemaRef ds:uri="http://www.w3.org/XML/1998/namespace"/>
    <ds:schemaRef ds:uri="http://purl.org/dc/elements/1.1/"/>
    <ds:schemaRef ds:uri="http://schemas.microsoft.com/office/infopath/2007/PartnerControls"/>
    <ds:schemaRef ds:uri="cd5233e2-74fb-488a-aed8-75637c784312"/>
    <ds:schemaRef ds:uri="http://purl.org/dc/terms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373A0A58-122D-47DA-A23A-8BFB49AD3B25}">
  <ds:schemaRefs>
    <ds:schemaRef ds:uri="cd5233e2-74fb-488a-aed8-75637c78431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97130EB-DF45-42FA-9324-31E3910341E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f5c8052-b1ea-40d1-8cd5-ea0c204ca84f}" enabled="1" method="Standard" siteId="{19e51c11-d919-4a98-899d-9b9dc33f4e0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2025-2026 JUNIA-PPT</Template>
  <TotalTime>0</TotalTime>
  <Words>954</Words>
  <Application>Microsoft Office PowerPoint</Application>
  <PresentationFormat>Grand écran</PresentationFormat>
  <Paragraphs>156</Paragraphs>
  <Slides>25</Slides>
  <Notes>2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8</vt:i4>
      </vt:variant>
      <vt:variant>
        <vt:lpstr>Titres des diapositives</vt:lpstr>
      </vt:variant>
      <vt:variant>
        <vt:i4>25</vt:i4>
      </vt:variant>
    </vt:vector>
  </HeadingPairs>
  <TitlesOfParts>
    <vt:vector size="41" baseType="lpstr">
      <vt:lpstr>Apple Symbols</vt:lpstr>
      <vt:lpstr>Aptos</vt:lpstr>
      <vt:lpstr>Aptos Display</vt:lpstr>
      <vt:lpstr>Arial</vt:lpstr>
      <vt:lpstr>Calibri</vt:lpstr>
      <vt:lpstr>Cambria Math</vt:lpstr>
      <vt:lpstr>GILROY-EXTRABOLD</vt:lpstr>
      <vt:lpstr>Wingdings</vt:lpstr>
      <vt:lpstr>Thème Office</vt:lpstr>
      <vt:lpstr>1-COUVERTURE</vt:lpstr>
      <vt:lpstr>2-SOMMAIRE</vt:lpstr>
      <vt:lpstr>3.2-CHAPITRES EXTERNE</vt:lpstr>
      <vt:lpstr>4.1-Corpus INTERNE</vt:lpstr>
      <vt:lpstr>3.1-CHAPITRES INTERNE</vt:lpstr>
      <vt:lpstr>4.2-Corpus EXTERNE</vt:lpstr>
      <vt:lpstr>5-Fin</vt:lpstr>
      <vt:lpstr>Décoder chaque ligne d’une facture  Identifier les postes de coût : énergie, TURPE,  taxes  Développer un regard critique</vt:lpstr>
      <vt:lpstr>Contexte du marché de l’électricité </vt:lpstr>
      <vt:lpstr>Contexte du marché de l’électricité</vt:lpstr>
      <vt:lpstr>Architecture générale d’une facture électrique</vt:lpstr>
      <vt:lpstr>Détail des postes : énergie, réseau (TURPE), taxes </vt:lpstr>
      <vt:lpstr>Le poste « Énergie »</vt:lpstr>
      <vt:lpstr>Le poste « Acheminement / Réseau / TURPE » </vt:lpstr>
      <vt:lpstr>Détail des composantes du TURPE</vt:lpstr>
      <vt:lpstr>Fonctionnement du TURPE</vt:lpstr>
      <vt:lpstr>Taxes &amp; contributions : aperçu général</vt:lpstr>
      <vt:lpstr>L’accise (ex CSPE / TICFE)</vt:lpstr>
      <vt:lpstr>La CTA (Contribution Tarifaire d’Acheminement)</vt:lpstr>
      <vt:lpstr>TVA sur l’électricité</vt:lpstr>
      <vt:lpstr>Répartition de la facture</vt:lpstr>
      <vt:lpstr>facture de gaz</vt:lpstr>
      <vt:lpstr>La conversion kWh/m³</vt:lpstr>
      <vt:lpstr>Vidéo « Comprendre sa facture d’électricité »</vt:lpstr>
      <vt:lpstr>Cas d’étude « Facture »</vt:lpstr>
      <vt:lpstr>Cas particulier : entreprises / sites haute puissance</vt:lpstr>
      <vt:lpstr>Sensibilisation aux évolutions (réformes, 2025)</vt:lpstr>
      <vt:lpstr>Limites, pièges et précautions</vt:lpstr>
      <vt:lpstr>Conseils pratiques pour maîtriser sa facture</vt:lpstr>
      <vt:lpstr>Bilan &amp; perspectives</vt:lpstr>
      <vt:lpstr>Présentation PowerPoint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Aymeric SAS</dc:creator>
  <cp:lastModifiedBy>Aymeric SAS</cp:lastModifiedBy>
  <cp:revision>1</cp:revision>
  <dcterms:created xsi:type="dcterms:W3CDTF">2025-10-20T13:43:34Z</dcterms:created>
  <dcterms:modified xsi:type="dcterms:W3CDTF">2026-01-05T11:47:07Z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0x0101004DE63D34E541314F80CD24A648ABC5FB</vt:lpwstr>
  </property>
</Properties>
</file>