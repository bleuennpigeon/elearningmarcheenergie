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4"/>
    <p:sldMasterId id="2147483902" r:id="rId5"/>
    <p:sldMasterId id="2147483879" r:id="rId6"/>
    <p:sldMasterId id="2147483917" r:id="rId7"/>
    <p:sldMasterId id="2147483851" r:id="rId8"/>
    <p:sldMasterId id="2147483928" r:id="rId9"/>
    <p:sldMasterId id="2147483913" r:id="rId10"/>
  </p:sldMasterIdLst>
  <p:notesMasterIdLst>
    <p:notesMasterId r:id="rId33"/>
  </p:notesMasterIdLst>
  <p:sldIdLst>
    <p:sldId id="278" r:id="rId11"/>
    <p:sldId id="279" r:id="rId12"/>
    <p:sldId id="280" r:id="rId13"/>
    <p:sldId id="281" r:id="rId14"/>
    <p:sldId id="284" r:id="rId15"/>
    <p:sldId id="282" r:id="rId16"/>
    <p:sldId id="286" r:id="rId17"/>
    <p:sldId id="283" r:id="rId18"/>
    <p:sldId id="285" r:id="rId19"/>
    <p:sldId id="290" r:id="rId20"/>
    <p:sldId id="287" r:id="rId21"/>
    <p:sldId id="300" r:id="rId22"/>
    <p:sldId id="301" r:id="rId23"/>
    <p:sldId id="302" r:id="rId24"/>
    <p:sldId id="292" r:id="rId25"/>
    <p:sldId id="288" r:id="rId26"/>
    <p:sldId id="289" r:id="rId27"/>
    <p:sldId id="294" r:id="rId28"/>
    <p:sldId id="295" r:id="rId29"/>
    <p:sldId id="296" r:id="rId30"/>
    <p:sldId id="303" r:id="rId31"/>
    <p:sldId id="293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4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E8B426-CA86-DBA4-080D-54221A1F55BA}" v="1" dt="2026-01-09T12:27:33.038"/>
    <p1510:client id="{8C0F4CBE-CD37-4F9F-B49A-3A97FB211FBB}" v="51" dt="2026-01-07T15:20:37.927"/>
    <p1510:client id="{FB721D5B-C26E-3D56-75C8-8053D07EC565}" v="4" dt="2026-01-09T12:26:51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74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microsoft.com/office/2015/10/relationships/revisionInfo" Target="revisionInfo.xml"/><Relationship Id="rId21" Type="http://schemas.openxmlformats.org/officeDocument/2006/relationships/slide" Target="slides/slide1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othé EVEILLARD" userId="S::timothe.eveillard@student.junia.com::448f0ee0-a7c7-4812-81d4-5d73fdf4ebed" providerId="AD" clId="Web-{FB721D5B-C26E-3D56-75C8-8053D07EC565}"/>
    <pc:docChg chg="delSld">
      <pc:chgData name="Timothé EVEILLARD" userId="S::timothe.eveillard@student.junia.com::448f0ee0-a7c7-4812-81d4-5d73fdf4ebed" providerId="AD" clId="Web-{FB721D5B-C26E-3D56-75C8-8053D07EC565}" dt="2026-01-09T12:26:51.077" v="3"/>
      <pc:docMkLst>
        <pc:docMk/>
      </pc:docMkLst>
      <pc:sldChg chg="del">
        <pc:chgData name="Timothé EVEILLARD" userId="S::timothe.eveillard@student.junia.com::448f0ee0-a7c7-4812-81d4-5d73fdf4ebed" providerId="AD" clId="Web-{FB721D5B-C26E-3D56-75C8-8053D07EC565}" dt="2026-01-09T12:26:47.546" v="0"/>
        <pc:sldMkLst>
          <pc:docMk/>
          <pc:sldMk cId="1841246703" sldId="291"/>
        </pc:sldMkLst>
      </pc:sldChg>
      <pc:sldChg chg="del">
        <pc:chgData name="Timothé EVEILLARD" userId="S::timothe.eveillard@student.junia.com::448f0ee0-a7c7-4812-81d4-5d73fdf4ebed" providerId="AD" clId="Web-{FB721D5B-C26E-3D56-75C8-8053D07EC565}" dt="2026-01-09T12:26:49.780" v="1"/>
        <pc:sldMkLst>
          <pc:docMk/>
          <pc:sldMk cId="2455105144" sldId="297"/>
        </pc:sldMkLst>
      </pc:sldChg>
      <pc:sldChg chg="del">
        <pc:chgData name="Timothé EVEILLARD" userId="S::timothe.eveillard@student.junia.com::448f0ee0-a7c7-4812-81d4-5d73fdf4ebed" providerId="AD" clId="Web-{FB721D5B-C26E-3D56-75C8-8053D07EC565}" dt="2026-01-09T12:26:50.468" v="2"/>
        <pc:sldMkLst>
          <pc:docMk/>
          <pc:sldMk cId="991617196" sldId="298"/>
        </pc:sldMkLst>
      </pc:sldChg>
      <pc:sldChg chg="del">
        <pc:chgData name="Timothé EVEILLARD" userId="S::timothe.eveillard@student.junia.com::448f0ee0-a7c7-4812-81d4-5d73fdf4ebed" providerId="AD" clId="Web-{FB721D5B-C26E-3D56-75C8-8053D07EC565}" dt="2026-01-09T12:26:51.077" v="3"/>
        <pc:sldMkLst>
          <pc:docMk/>
          <pc:sldMk cId="3123443292" sldId="299"/>
        </pc:sldMkLst>
      </pc:sldChg>
    </pc:docChg>
  </pc:docChgLst>
  <pc:docChgLst>
    <pc:chgData name="Timothé EVEILLARD" userId="S::timothe.eveillard@student.junia.com::448f0ee0-a7c7-4812-81d4-5d73fdf4ebed" providerId="AD" clId="Web-{79E8B426-CA86-DBA4-080D-54221A1F55BA}"/>
    <pc:docChg chg="modSld">
      <pc:chgData name="Timothé EVEILLARD" userId="S::timothe.eveillard@student.junia.com::448f0ee0-a7c7-4812-81d4-5d73fdf4ebed" providerId="AD" clId="Web-{79E8B426-CA86-DBA4-080D-54221A1F55BA}" dt="2026-01-09T12:27:33.038" v="0" actId="20577"/>
      <pc:docMkLst>
        <pc:docMk/>
      </pc:docMkLst>
      <pc:sldChg chg="modSp">
        <pc:chgData name="Timothé EVEILLARD" userId="S::timothe.eveillard@student.junia.com::448f0ee0-a7c7-4812-81d4-5d73fdf4ebed" providerId="AD" clId="Web-{79E8B426-CA86-DBA4-080D-54221A1F55BA}" dt="2026-01-09T12:27:33.038" v="0" actId="20577"/>
        <pc:sldMkLst>
          <pc:docMk/>
          <pc:sldMk cId="1367887095" sldId="293"/>
        </pc:sldMkLst>
        <pc:spChg chg="mod">
          <ac:chgData name="Timothé EVEILLARD" userId="S::timothe.eveillard@student.junia.com::448f0ee0-a7c7-4812-81d4-5d73fdf4ebed" providerId="AD" clId="Web-{79E8B426-CA86-DBA4-080D-54221A1F55BA}" dt="2026-01-09T12:27:33.038" v="0" actId="20577"/>
          <ac:spMkLst>
            <pc:docMk/>
            <pc:sldMk cId="1367887095" sldId="293"/>
            <ac:spMk id="2" creationId="{4937DA82-A80E-7761-4908-78FE12BC88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4BCC2-5A92-486E-9A43-8B9266EDB282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C0369-C646-4CDD-90C4-E8705C94376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24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C0369-C646-4CDD-90C4-E8705C94376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3705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772EFF6D-0E37-C170-6E8F-791B2E35C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4400" y="0"/>
            <a:ext cx="8127600" cy="685800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2D1EC-00BA-090F-4890-8A8449B213D6}"/>
              </a:ext>
            </a:extLst>
          </p:cNvPr>
          <p:cNvSpPr/>
          <p:nvPr userDrawn="1"/>
        </p:nvSpPr>
        <p:spPr>
          <a:xfrm>
            <a:off x="1" y="0"/>
            <a:ext cx="4064399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2309DC96-23C2-8373-05B0-2E90FE5E41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12524" y="134362"/>
            <a:ext cx="779751" cy="1497617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4E4A55D5-8C7F-E0F2-769A-1198F3D1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591" y="4080396"/>
            <a:ext cx="6757367" cy="2777604"/>
          </a:xfrm>
        </p:spPr>
        <p:txBody>
          <a:bodyPr anchor="t" anchorCtr="0"/>
          <a:lstStyle>
            <a:lvl1pPr algn="l">
              <a:defRPr sz="4800" b="1" i="0" cap="none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71875FF3-DB1B-B1AF-EBE8-DC7553A27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591" y="3185157"/>
            <a:ext cx="6757367" cy="779751"/>
          </a:xfrm>
        </p:spPr>
        <p:txBody>
          <a:bodyPr anchor="ctr" anchorCtr="0"/>
          <a:lstStyle>
            <a:lvl1pPr marL="0" indent="0" algn="l">
              <a:lnSpc>
                <a:spcPct val="130000"/>
              </a:lnSpc>
              <a:spcAft>
                <a:spcPts val="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17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D8AE9-08A4-EFF2-4F54-C071391D5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281" y="2848291"/>
            <a:ext cx="8319493" cy="1161417"/>
          </a:xfrm>
        </p:spPr>
        <p:txBody>
          <a:bodyPr anchor="t" anchorCtr="0"/>
          <a:lstStyle>
            <a:lvl1pPr marL="514350" indent="-514350" algn="ctr">
              <a:buFont typeface="+mj-lt"/>
              <a:buAutoNum type="arabicPeriod"/>
              <a:defRPr sz="3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7404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6 EXTER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6C9007-5C83-E2C9-8FE1-6E103CC952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1A022-1955-8E84-264F-DA8C787616D7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2DD95BA4-8D6D-20C0-7EC3-6BDE16C2E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9FA3845-7785-CB90-DF4D-2EC400774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7B11E268-1DBC-ED3D-74AC-C7ED3DB68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903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5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668EC5C-13C9-6D19-B4B0-570B52BFD9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E90D4-9D79-EB05-FA2D-6AB45C2F7BC3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CF84035D-A86A-F191-7DBD-129CD2D55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F28C0647-6D89-89EF-2BF8-167F40D4A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0B6F0A0-64FF-C6D0-EC81-F1D699C04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809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4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4D3005C-7EE6-36A2-687A-ADED0A2E3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E25A5-F183-0A8C-FC3E-BA204BD1BEDB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FE9C5DAC-9AD4-475B-FE95-4F79829E1E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2FAD66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E180EFFC-540D-BDAC-A87B-F3F645506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C3F3CE54-053C-2147-EB09-1BB612E03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6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2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7B327B4-F876-873C-33A0-B48047ECB9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613B6-7965-C6B5-12FB-5B1B8B2AF5A0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D3A28C71-9174-F7A3-8AFE-9E1672CBA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00919B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0548928-AC40-C806-C2A5-399F2F453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E9E869DE-F122-AFC9-E0D0-5B041E201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427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1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3A6813C-B546-5432-BAAA-59A5D751A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930BC-1753-B241-B5F0-BC9CC06D66F5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DE8ACC-D335-3D3B-3D12-DA4C69B5A8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B9B5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536D9D4-5FE9-D0E3-D926-E4E33B1309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66" y="3871913"/>
            <a:ext cx="2029626" cy="3434012"/>
          </a:xfrm>
          <a:prstGeom prst="rect">
            <a:avLst/>
          </a:prstGeo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4DAE5F12-80CD-8562-82F6-10F7F4268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3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70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3 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14F6AA-087B-CE36-96C0-427F96B4A99B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4D0DE6E-8BB1-7EAF-0A35-FB3905B453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6095" y="-311727"/>
            <a:ext cx="3908069" cy="7505973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A56199FF-4002-2744-182B-DD250F36A7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624" y="3844296"/>
            <a:ext cx="2770295" cy="3434012"/>
          </a:xfrm>
          <a:prstGeom prst="rect">
            <a:avLst/>
          </a:prstGeom>
        </p:spPr>
      </p:pic>
      <p:sp>
        <p:nvSpPr>
          <p:cNvPr id="19" name="Title 19">
            <a:extLst>
              <a:ext uri="{FF2B5EF4-FFF2-40B4-BE49-F238E27FC236}">
                <a16:creationId xmlns:a16="http://schemas.microsoft.com/office/drawing/2014/main" id="{EF18C0AC-6DBA-94F4-5062-2FEE5DE05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CA331F-5B5E-77DE-69E1-411B73E47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5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37577-9E24-B6E4-81DD-4B01159B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5202B4-1DA3-32BC-BE2F-43323F07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31DC8F-8318-9452-513C-0946BFE2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AA6D0B-7FE4-E6FF-B9EB-4A367B02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8A9ED-1934-DB3E-937E-0541E3BA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388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483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-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D1012D-454D-B585-E4E4-11998A891E3E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48EDFF77-90A4-03C2-086F-CB04B6A14C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028216"/>
            <a:ext cx="12192001" cy="2093575"/>
          </a:xfrm>
          <a:prstGeom prst="rect">
            <a:avLst/>
          </a:prstGeom>
        </p:spPr>
      </p:pic>
      <p:pic>
        <p:nvPicPr>
          <p:cNvPr id="7" name="Image 6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B6C0139-F20E-7AA7-3925-D88D22B38B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081" y="4966007"/>
            <a:ext cx="2225836" cy="22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967327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LEVEL</a:t>
            </a:r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180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i="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441" y="2869593"/>
            <a:ext cx="5773230" cy="11433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C6D76721-85E3-138A-A9B1-66888669C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140" t="4154" b="4479"/>
          <a:stretch>
            <a:fillRect/>
          </a:stretch>
        </p:blipFill>
        <p:spPr>
          <a:xfrm>
            <a:off x="-12812" y="0"/>
            <a:ext cx="2534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GILROY-EXTRABOLD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4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927" r:id="rId2"/>
    <p:sldLayoutId id="2147483884" r:id="rId3"/>
    <p:sldLayoutId id="2147483883" r:id="rId4"/>
    <p:sldLayoutId id="2147483881" r:id="rId5"/>
    <p:sldLayoutId id="2147483880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695689"/>
            <a:ext cx="1104782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290" y="1788487"/>
            <a:ext cx="11047822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E6CD7B-9C42-AEF7-B204-006627AD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291" y="6356350"/>
            <a:ext cx="7760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4F112D-4D24-0690-DFFA-EF1B44470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58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09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4475F7-77F6-7257-A1E0-7E4E5EDD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9CA62-4C81-655B-09BC-BD1D164A3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008C6-2D62-178F-E1CD-39935BCFE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69CA69-9681-163A-0C57-27123318F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8D1B2-DE50-42C8-5B56-9873B249F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747AE-F884-4572-99DF-3B748780C1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50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2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0.svg"/><Relationship Id="rId3" Type="http://schemas.openxmlformats.org/officeDocument/2006/relationships/image" Target="../media/image23.svg"/><Relationship Id="rId7" Type="http://schemas.openxmlformats.org/officeDocument/2006/relationships/image" Target="../media/image26.svg"/><Relationship Id="rId12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9.svg"/><Relationship Id="rId5" Type="http://schemas.openxmlformats.org/officeDocument/2006/relationships/image" Target="../media/image24.svg"/><Relationship Id="rId10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6.svg"/><Relationship Id="rId7" Type="http://schemas.openxmlformats.org/officeDocument/2006/relationships/image" Target="../media/image4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0A36B49-3E6A-1F81-19D7-E56187CF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838075"/>
            <a:ext cx="4018546" cy="290092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Comprendre le fonctionnement du marché de l’énergie.</a:t>
            </a:r>
            <a:br>
              <a:rPr lang="fr-FR" sz="2000" dirty="0"/>
            </a:br>
            <a:r>
              <a:rPr lang="fr-FR" sz="2000" dirty="0"/>
              <a:t>Identifier les acteurs principaux.</a:t>
            </a:r>
            <a:br>
              <a:rPr lang="fr-FR" sz="2000" dirty="0"/>
            </a:br>
            <a:r>
              <a:rPr lang="fr-FR" sz="2000" dirty="0"/>
              <a:t>Distinguer l’électricité et le gaz.</a:t>
            </a:r>
            <a:br>
              <a:rPr lang="fr-FR" sz="2000" dirty="0"/>
            </a:br>
            <a:r>
              <a:rPr lang="fr-FR" sz="2000" dirty="0"/>
              <a:t>Comprendre la formation des prix.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E15AE3-C690-CEC1-408D-7E35F3C59D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Objectifs :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05FA7BB-14FB-A392-9740-4FA6DB2AB820}"/>
              </a:ext>
            </a:extLst>
          </p:cNvPr>
          <p:cNvSpPr txBox="1">
            <a:spLocks/>
          </p:cNvSpPr>
          <p:nvPr/>
        </p:nvSpPr>
        <p:spPr>
          <a:xfrm>
            <a:off x="5295373" y="728865"/>
            <a:ext cx="5877050" cy="16162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none" baseline="0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Cours 2 : Marché de l’énergie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4BABB5FB-6382-CC42-0344-ED0008505498}"/>
              </a:ext>
            </a:extLst>
          </p:cNvPr>
          <p:cNvSpPr txBox="1">
            <a:spLocks/>
          </p:cNvSpPr>
          <p:nvPr/>
        </p:nvSpPr>
        <p:spPr>
          <a:xfrm>
            <a:off x="993749" y="4139033"/>
            <a:ext cx="587705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i="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427CE2F1-24E6-CBD7-5E01-EF30CF4DBCD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tx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/>
              <a:pPr/>
              <a:t>1</a:t>
            </a:fld>
            <a:endParaRPr lang="fr-FR" dirty="0"/>
          </a:p>
        </p:txBody>
      </p:sp>
      <p:pic>
        <p:nvPicPr>
          <p:cNvPr id="1026" name="Picture 2" descr="Directions des achats : améliorez la gestion du risque fournisseur">
            <a:extLst>
              <a:ext uri="{FF2B5EF4-FFF2-40B4-BE49-F238E27FC236}">
                <a16:creationId xmlns:a16="http://schemas.microsoft.com/office/drawing/2014/main" id="{5B1C615E-34FF-C773-3DB1-3C5CD85F97CD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1" r="20341"/>
          <a:stretch>
            <a:fillRect/>
          </a:stretch>
        </p:blipFill>
        <p:spPr bwMode="auto">
          <a:xfrm>
            <a:off x="6355603" y="2718967"/>
            <a:ext cx="4684615" cy="395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34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198B-4C73-2BE3-07B2-2A9CF431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E6D0CC02-EDB7-73B1-0A7B-4F8D86A9EB68}"/>
              </a:ext>
            </a:extLst>
          </p:cNvPr>
          <p:cNvSpPr txBox="1">
            <a:spLocks/>
          </p:cNvSpPr>
          <p:nvPr/>
        </p:nvSpPr>
        <p:spPr>
          <a:xfrm>
            <a:off x="8330711" y="4673479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Synthèse &amp; Exercice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DC935F-4B2D-D05B-F423-8E01C8962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33" y="2186487"/>
            <a:ext cx="2697036" cy="1161417"/>
          </a:xfrm>
          <a:solidFill>
            <a:schemeClr val="bg1"/>
          </a:solidFill>
        </p:spPr>
        <p:txBody>
          <a:bodyPr anchor="ctr" anchorCtr="0"/>
          <a:lstStyle/>
          <a:p>
            <a:pPr marL="0" lvl="0" indent="0">
              <a:lnSpc>
                <a:spcPct val="100000"/>
              </a:lnSpc>
              <a:buNone/>
              <a:defRPr cap="all"/>
            </a:pPr>
            <a:r>
              <a:rPr lang="fr-FR" sz="1800" dirty="0"/>
              <a:t>Définition et organisation du marché de l’énergie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EDA29FD-A85B-8646-F714-A68CB96EBAF0}"/>
              </a:ext>
            </a:extLst>
          </p:cNvPr>
          <p:cNvSpPr txBox="1">
            <a:spLocks/>
          </p:cNvSpPr>
          <p:nvPr/>
        </p:nvSpPr>
        <p:spPr>
          <a:xfrm>
            <a:off x="3011138" y="4824488"/>
            <a:ext cx="1921810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Types de marchés et formation des prix</a:t>
            </a:r>
            <a:br>
              <a:rPr lang="fr-FR" sz="1800" dirty="0"/>
            </a:br>
            <a:endParaRPr lang="fr-FR" sz="1800" dirty="0"/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0F329AA-78F2-5BD0-1D32-45D3A60AF1E5}"/>
              </a:ext>
            </a:extLst>
          </p:cNvPr>
          <p:cNvSpPr txBox="1">
            <a:spLocks/>
          </p:cNvSpPr>
          <p:nvPr/>
        </p:nvSpPr>
        <p:spPr>
          <a:xfrm>
            <a:off x="5670923" y="4673479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Types de contrats et cadres d’échange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406262F-D46A-F769-F93F-194D579FF505}"/>
              </a:ext>
            </a:extLst>
          </p:cNvPr>
          <p:cNvSpPr txBox="1">
            <a:spLocks/>
          </p:cNvSpPr>
          <p:nvPr/>
        </p:nvSpPr>
        <p:spPr>
          <a:xfrm>
            <a:off x="8330711" y="2359826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Spécificités de l’électricité et du gaz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87A3485-E720-5CBF-B4B6-9927B4138552}"/>
              </a:ext>
            </a:extLst>
          </p:cNvPr>
          <p:cNvSpPr txBox="1">
            <a:spLocks/>
          </p:cNvSpPr>
          <p:nvPr/>
        </p:nvSpPr>
        <p:spPr>
          <a:xfrm>
            <a:off x="5670924" y="2229147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Acteurs et fonctionnement général du marché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2663C608-528A-5E16-68E0-A98D62AF9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2253" y="1209557"/>
            <a:ext cx="686440" cy="1161418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4FE8155-8B6A-D855-AB01-83E4D04DB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332" y="1209558"/>
            <a:ext cx="959714" cy="116141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3A5E9459-7D77-1A0C-F294-889B8CAAA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433" y="1209557"/>
            <a:ext cx="936942" cy="1161418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83292277-B390-1AE2-C310-5DD4642632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65692" y="3663071"/>
            <a:ext cx="1161418" cy="1161418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3067046E-A654-50FC-F45A-3F75B04244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7980" y="3663071"/>
            <a:ext cx="1018274" cy="1161418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E900863C-F297-4163-CF60-5DF671A10A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47047" y="3663071"/>
            <a:ext cx="959714" cy="1161417"/>
          </a:xfrm>
          <a:prstGeom prst="rect">
            <a:avLst/>
          </a:prstGeom>
        </p:spPr>
      </p:pic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85113AD8-20E7-1564-1A1E-04AE8F039D2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>
                <a:solidFill>
                  <a:schemeClr val="tx1">
                    <a:lumMod val="50000"/>
                  </a:schemeClr>
                </a:solidFill>
              </a:rPr>
              <a:pPr/>
              <a:t>2</a:t>
            </a:fld>
            <a:endParaRPr lang="fr-FR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71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F1C5FBF0-514A-BFAC-8A41-F5B104C3D8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A6235DB-A401-7C13-245D-C02F11AF3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5879" y="6356349"/>
            <a:ext cx="2982811" cy="365125"/>
          </a:xfrm>
        </p:spPr>
        <p:txBody>
          <a:bodyPr/>
          <a:lstStyle/>
          <a:p>
            <a:fld id="{8F246C36-D02A-478A-A2B1-30A38C36882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A750865-48C6-ED0A-A0FA-BF5B6E3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624" y="136525"/>
            <a:ext cx="7126727" cy="2029159"/>
          </a:xfrm>
        </p:spPr>
        <p:txBody>
          <a:bodyPr/>
          <a:lstStyle/>
          <a:p>
            <a:r>
              <a:rPr lang="fr-FR" sz="5400" dirty="0"/>
              <a:t>Marché de l’énergie : définition</a:t>
            </a:r>
            <a:br>
              <a:rPr lang="fr-FR" sz="5400" dirty="0"/>
            </a:b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9B3C65-F91C-9049-137A-8624B56B2A63}"/>
              </a:ext>
            </a:extLst>
          </p:cNvPr>
          <p:cNvSpPr txBox="1"/>
          <p:nvPr/>
        </p:nvSpPr>
        <p:spPr>
          <a:xfrm>
            <a:off x="0" y="1955764"/>
            <a:ext cx="57300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marché de l’énergie repose sur une organisation précise qui encadre les échanges d’électricité et de gaz. Il s’inscrit dans un cadre à la fois national et européen, avec pour objectif principal d’assurer l’équilibre entre l’offre et la demande et de garantir la sécurité d’approvisionnement.</a:t>
            </a:r>
            <a:endParaRPr kumimoji="0" lang="fr-FR" altLang="fr-FR" sz="2000" b="1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Marché organisé et réglementé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Échanges d’électricité et de gaz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Cadre national et européen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 : équilibre offre / demande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Sécurité d’approvisionnement</a:t>
            </a:r>
          </a:p>
        </p:txBody>
      </p:sp>
      <p:pic>
        <p:nvPicPr>
          <p:cNvPr id="2050" name="Picture 2" descr="Décrypter le marché de l'énergie : acteurs, enjeux, et évolution">
            <a:extLst>
              <a:ext uri="{FF2B5EF4-FFF2-40B4-BE49-F238E27FC236}">
                <a16:creationId xmlns:a16="http://schemas.microsoft.com/office/drawing/2014/main" id="{AAE07B03-17F1-9825-F033-A742D0A01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624" y="4630901"/>
            <a:ext cx="5088027" cy="190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86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B3D3C079-46C6-6A32-C8E6-9AF521840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C3C2545-87A3-A6AD-E8E3-A38F427B09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-33548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90AD3F7-513B-E7D9-15B1-F51781AD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CB06BD3-1DD7-4555-F358-44FF0CFB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703" y="235171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tx1"/>
                </a:solidFill>
              </a:rPr>
              <a:t>Acteurs du marché de l’énergie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BDC4ED-25D8-6702-C8DD-A5DCC788FF31}"/>
              </a:ext>
            </a:extLst>
          </p:cNvPr>
          <p:cNvSpPr txBox="1"/>
          <p:nvPr/>
        </p:nvSpPr>
        <p:spPr>
          <a:xfrm>
            <a:off x="6478641" y="2361923"/>
            <a:ext cx="3429000" cy="1853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Producteurs d’électricité et de gaz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Fournisseurs d’énergie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Gestionnaires de réseaux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Consommateurs finaux</a:t>
            </a:r>
            <a:endParaRPr kumimoji="0" lang="fr-FR" sz="2000" b="0" i="0" u="none" strike="noStrike" cap="none" normalizeH="0" baseline="0" noProof="0" dirty="0">
              <a:ln>
                <a:noFill/>
              </a:ln>
              <a:effectLst/>
            </a:endParaRPr>
          </a:p>
        </p:txBody>
      </p:sp>
      <p:pic>
        <p:nvPicPr>
          <p:cNvPr id="3074" name="Picture 2" descr="Le marché de l'électricité en France: fonctionnement &amp; acteurs">
            <a:extLst>
              <a:ext uri="{FF2B5EF4-FFF2-40B4-BE49-F238E27FC236}">
                <a16:creationId xmlns:a16="http://schemas.microsoft.com/office/drawing/2014/main" id="{32622335-C107-D49E-F4E4-B49780E33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914" y="1586891"/>
            <a:ext cx="3257454" cy="468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9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0B040-AA54-131F-CF9B-6ED6447E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2363" y="355157"/>
            <a:ext cx="7708359" cy="2026947"/>
          </a:xfrm>
        </p:spPr>
        <p:txBody>
          <a:bodyPr/>
          <a:lstStyle/>
          <a:p>
            <a:r>
              <a:rPr lang="fr-FR" sz="5400" dirty="0"/>
              <a:t>Spécificités de l’électricité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F2877BF-500C-33BE-25F1-FFA5837CB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EC8ACF-80D5-937D-C247-5115E1A9D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2899462"/>
            <a:ext cx="3098058" cy="26952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</a:pPr>
            <a:endParaRPr lang="fr-FR" altLang="fr-FR" sz="2000" dirty="0"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07D5DF4-4E6B-D007-0AB8-2C3244B7E352}"/>
              </a:ext>
            </a:extLst>
          </p:cNvPr>
          <p:cNvSpPr txBox="1"/>
          <p:nvPr/>
        </p:nvSpPr>
        <p:spPr>
          <a:xfrm>
            <a:off x="2910074" y="1861995"/>
            <a:ext cx="46561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Les spécificités de l’électricité sont: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Production = consommation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Absence de stockage à grande échelle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Équilibre permanent du réseau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Sensibilité à la météo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Forte volatilité des prix</a:t>
            </a:r>
          </a:p>
        </p:txBody>
      </p:sp>
      <p:pic>
        <p:nvPicPr>
          <p:cNvPr id="4102" name="Picture 6" descr="FAQ : Qu'est-ce que l'électricité ? | Eland Cables">
            <a:extLst>
              <a:ext uri="{FF2B5EF4-FFF2-40B4-BE49-F238E27FC236}">
                <a16:creationId xmlns:a16="http://schemas.microsoft.com/office/drawing/2014/main" id="{A8ADFD6E-70C2-DA44-1DB7-8642713B0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420" y="3762375"/>
            <a:ext cx="3915434" cy="259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76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Spécificités du gaz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5" y="1504335"/>
            <a:ext cx="4149866" cy="456655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</a:pPr>
            <a:r>
              <a:rPr lang="fr-FR" sz="2000" dirty="0"/>
              <a:t>Les spécificités du gaz sont: 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Stockage possible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Gestion saisonnière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Dépendance aux importations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Influence du contexte géopolitique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Marché international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6</a:t>
            </a:fld>
            <a:endParaRPr lang="fr-FR" dirty="0"/>
          </a:p>
        </p:txBody>
      </p:sp>
      <p:pic>
        <p:nvPicPr>
          <p:cNvPr id="5122" name="Picture 2" descr="Gaz naturel : de quoi s'agit-il ? | Hellio">
            <a:extLst>
              <a:ext uri="{FF2B5EF4-FFF2-40B4-BE49-F238E27FC236}">
                <a16:creationId xmlns:a16="http://schemas.microsoft.com/office/drawing/2014/main" id="{F495BFE7-4A26-A82A-9490-5BA7E9F7D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336" y="1431672"/>
            <a:ext cx="5984585" cy="399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1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C2989E1-AABC-0D12-63D7-AB2E529B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952" y="436156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tx1"/>
                </a:solidFill>
              </a:rPr>
              <a:t>Fonctionnement général du marché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C53741F-200B-0CAE-BE64-DA56E1814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6FA69D2-944A-9BD8-2AE6-B5676BBC25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1507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7DD358-5D96-F44E-F49D-E092521B5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A7EF65-CEF3-D361-A4AB-4567927395EE}"/>
              </a:ext>
            </a:extLst>
          </p:cNvPr>
          <p:cNvSpPr txBox="1"/>
          <p:nvPr/>
        </p:nvSpPr>
        <p:spPr>
          <a:xfrm>
            <a:off x="483568" y="1873774"/>
            <a:ext cx="55341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 fonctionnement du marché de l’énergie repose sur la confrontation entre l’offre et la demande, dans un contexte marqué par des contraintes techniques fortes et de nombreux aléas.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Logique offre / demande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Hausse de la demande → hausse des prix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Baisse de la demande → baisse des prix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Influence des contraintes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Marché sensible aux aléas</a:t>
            </a:r>
            <a:endParaRPr lang="fr-FR" noProof="0" dirty="0"/>
          </a:p>
        </p:txBody>
      </p:sp>
      <p:pic>
        <p:nvPicPr>
          <p:cNvPr id="2" name="Picture 2" descr="Le fonctionnement d'un marché - La finance pour tous">
            <a:extLst>
              <a:ext uri="{FF2B5EF4-FFF2-40B4-BE49-F238E27FC236}">
                <a16:creationId xmlns:a16="http://schemas.microsoft.com/office/drawing/2014/main" id="{8F6A1E01-5018-40A8-068A-116F3D2C0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097" y="2506530"/>
            <a:ext cx="284797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80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B511-6AAA-2E62-0C82-E456456D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1F141A-FA5D-DF7E-B9AA-AB4A71E68F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3820" y="1559968"/>
            <a:ext cx="4360230" cy="3921908"/>
          </a:xfrm>
        </p:spPr>
        <p:txBody>
          <a:bodyPr/>
          <a:lstStyle/>
          <a:p>
            <a:pPr algn="l" eaLnBrk="0" fontAlgn="base" hangingPunct="0">
              <a:spcBef>
                <a:spcPct val="0"/>
              </a:spcBef>
            </a:pPr>
            <a:r>
              <a:rPr lang="fr-FR" sz="2000" dirty="0"/>
              <a:t>Le marché de l’énergie est organisé autour de plusieurs types de marchés, qui se distinguent principalement par l’horizon de temps et le rôle qu’ils jouent dans l’équilibre du système.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Marchés de long terme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Marchés de court terme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Marché spot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Marchés d’ajustement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Marchés complémentaires</a:t>
            </a:r>
            <a:endParaRPr lang="fr-FR" altLang="fr-FR" sz="2000" b="0" dirty="0">
              <a:solidFill>
                <a:srgbClr val="56436A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AEF22A1-773B-56D0-5904-DF101ECA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3DCE9B-6F7F-33A3-962E-A46590229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240467E0-7CE2-09EE-BC04-A154A6A1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Types de marchés de l’énergie</a:t>
            </a:r>
          </a:p>
        </p:txBody>
      </p:sp>
      <p:pic>
        <p:nvPicPr>
          <p:cNvPr id="7172" name="Picture 4" descr="5 000+ Courbe De Croissance Stock Illustrations, graphiques vectoriels  libre de droits et Clip Art - iStock">
            <a:extLst>
              <a:ext uri="{FF2B5EF4-FFF2-40B4-BE49-F238E27FC236}">
                <a16:creationId xmlns:a16="http://schemas.microsoft.com/office/drawing/2014/main" id="{F1B2DBE2-77DB-0DC5-F767-27A80327E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952" y="1645693"/>
            <a:ext cx="3190875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4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marché spot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402" y="1237646"/>
            <a:ext cx="5712598" cy="4953603"/>
          </a:xfrm>
        </p:spPr>
        <p:txBody>
          <a:bodyPr/>
          <a:lstStyle/>
          <a:p>
            <a:pPr lvl="0" fontAlgn="base">
              <a:lnSpc>
                <a:spcPct val="90000"/>
              </a:lnSpc>
              <a:spcBef>
                <a:spcPct val="0"/>
              </a:spcBef>
            </a:pPr>
            <a:r>
              <a:rPr lang="fr-FR" sz="2400" dirty="0"/>
              <a:t>Le marché spot correspond aux échanges d’énergie réalisés à très court terme et joue un rôle central dans la formation des prix de l’électricité et du gaz.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Échanges à très court terme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Livraison jour même ou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Lendemain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Prix en temps réel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Réflexion directe de l’offre et de la demande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Référence pour la formation des prix</a:t>
            </a:r>
            <a:endParaRPr lang="fr-FR" sz="2400" b="0" dirty="0">
              <a:solidFill>
                <a:srgbClr val="56436A"/>
              </a:solidFill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9</a:t>
            </a:fld>
            <a:endParaRPr lang="fr-FR" dirty="0"/>
          </a:p>
        </p:txBody>
      </p:sp>
      <p:pic>
        <p:nvPicPr>
          <p:cNvPr id="8196" name="Picture 4" descr="Marché spot de l'électricité : comment fonctionne la tarification en temps  réel ?">
            <a:extLst>
              <a:ext uri="{FF2B5EF4-FFF2-40B4-BE49-F238E27FC236}">
                <a16:creationId xmlns:a16="http://schemas.microsoft.com/office/drawing/2014/main" id="{5D4C37DD-C99D-4A76-700A-D245C4C24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782" y="2157817"/>
            <a:ext cx="5712598" cy="3571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38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1939E0A-3796-5218-1D39-5F24FC41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186" y="0"/>
            <a:ext cx="6940790" cy="2875237"/>
          </a:xfrm>
        </p:spPr>
        <p:txBody>
          <a:bodyPr/>
          <a:lstStyle/>
          <a:p>
            <a:r>
              <a:rPr lang="fr-FR" dirty="0"/>
              <a:t>Types de contrats de l’énergie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9945D02B-8CB1-947A-CBB1-327049B07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03DB441-84CF-2AA5-CB9F-6C264A6A11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684F2C1-B486-F8BF-1A3E-336D4C669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6AA3EFD-70D6-384B-BE20-46DA76C37113}"/>
              </a:ext>
            </a:extLst>
          </p:cNvPr>
          <p:cNvSpPr txBox="1"/>
          <p:nvPr/>
        </p:nvSpPr>
        <p:spPr>
          <a:xfrm>
            <a:off x="261687" y="1133368"/>
            <a:ext cx="63165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Les échanges d’énergie sur le marché sont encadrés par différents types de contrats, qui définissent les conditions générales de fourniture entre les acteurs.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Contrats de long terme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Contrats de courte durée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Cadre juridique des échanges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Définition des volumes et des périodes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Structuration du marché</a:t>
            </a:r>
          </a:p>
        </p:txBody>
      </p:sp>
      <p:pic>
        <p:nvPicPr>
          <p:cNvPr id="7172" name="Picture 4" descr="5 étapes de la méthodologie de gestion des risques">
            <a:extLst>
              <a:ext uri="{FF2B5EF4-FFF2-40B4-BE49-F238E27FC236}">
                <a16:creationId xmlns:a16="http://schemas.microsoft.com/office/drawing/2014/main" id="{0FC69C42-613E-3EC6-7B42-295559E9839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7" r="5867"/>
          <a:stretch>
            <a:fillRect/>
          </a:stretch>
        </p:blipFill>
        <p:spPr bwMode="auto">
          <a:xfrm flipH="1">
            <a:off x="16048612" y="6486525"/>
            <a:ext cx="311639" cy="23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Peut-on prouver l'existence d'un contrat en l'absence d'un support écrit ?  - MAE Avocats">
            <a:extLst>
              <a:ext uri="{FF2B5EF4-FFF2-40B4-BE49-F238E27FC236}">
                <a16:creationId xmlns:a16="http://schemas.microsoft.com/office/drawing/2014/main" id="{E89581BE-882E-9FCA-40AC-AFD352098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854" y="3585888"/>
            <a:ext cx="4044875" cy="277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75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198BE-DB4F-6AA5-6257-FE62B47E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0C5A-E23A-3335-3E26-E6346D07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 PPA (Power Purchase Agreement)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9594C56F-4452-A595-612D-1308227D2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Contrat de long terme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Lien direct producteur / consommateur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Souvent énergie renouvelable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Stabilité de l’approvisionnement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Exemple de contractualisation spécifique</a:t>
            </a:r>
            <a:endParaRPr lang="en-US" altLang="fr-FR" sz="2000" b="0"/>
          </a:p>
        </p:txBody>
      </p:sp>
      <p:pic>
        <p:nvPicPr>
          <p:cNvPr id="10242" name="Picture 2" descr="Contrat d'achat d'électricité (PPA) d'entreprise - South Pole">
            <a:extLst>
              <a:ext uri="{FF2B5EF4-FFF2-40B4-BE49-F238E27FC236}">
                <a16:creationId xmlns:a16="http://schemas.microsoft.com/office/drawing/2014/main" id="{658FDDE2-5396-BE6B-99FB-D7522B373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1660611"/>
            <a:ext cx="6389346" cy="354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C30C85-D8C1-05BC-F87B-9F9AAAAF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F246C36-D02A-478A-A2B1-30A38C36882C}" type="slidenum"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247" name="Group 1024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248" name="Rectangle 1024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9" name="Rectangle 1024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4">
            <a:extLst>
              <a:ext uri="{FF2B5EF4-FFF2-40B4-BE49-F238E27FC236}">
                <a16:creationId xmlns:a16="http://schemas.microsoft.com/office/drawing/2014/main" id="{AA074BE3-8F4B-FA8A-5E5D-1403E52920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2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D3F01-1B33-916A-737F-25F81795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D382D3-32FE-8A74-4F07-AAC3D05D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Facteurs influençant les prix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36D70D92-0A62-E870-4934-D7A2F53500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Conditions météorologiques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Disponibilité des moyens de production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Prix des matières premières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Contexte géopolitique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Organisation des marchés</a:t>
            </a:r>
            <a:endParaRPr lang="en-US" altLang="fr-FR" sz="2000" b="0"/>
          </a:p>
        </p:txBody>
      </p:sp>
      <p:pic>
        <p:nvPicPr>
          <p:cNvPr id="13314" name="Picture 2" descr="Inflation : le début de la baisse des prix des produits de grande  consommation">
            <a:extLst>
              <a:ext uri="{FF2B5EF4-FFF2-40B4-BE49-F238E27FC236}">
                <a16:creationId xmlns:a16="http://schemas.microsoft.com/office/drawing/2014/main" id="{AE0D6F9C-C17B-2D65-EFE0-85C01F79B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1307745"/>
            <a:ext cx="6389346" cy="425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505337-EE13-EDC2-1E50-6587BCA4D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F246C36-D02A-478A-A2B1-30A38C36882C}" type="slidenum"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3325" name="Group 1331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320" name="Rectangle 1331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26" name="Rectangle 13325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4">
            <a:extLst>
              <a:ext uri="{FF2B5EF4-FFF2-40B4-BE49-F238E27FC236}">
                <a16:creationId xmlns:a16="http://schemas.microsoft.com/office/drawing/2014/main" id="{88DBFE4F-BF69-B74A-8EC2-BEDE0B68A8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41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70B62-B029-6B9A-986B-6D403867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C07169-2315-47AD-B63C-650F8D42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Marché de l’énergie en Europe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8456B0C7-F00B-4F5A-FBB7-31708AFC54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Marché interconnecté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Échanges entre pays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Sécurité d’approvisionnement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Concurrence européenne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Influence sur les prix nationaux</a:t>
            </a:r>
            <a:endParaRPr lang="en-US" altLang="fr-FR" sz="2000" b="0"/>
          </a:p>
        </p:txBody>
      </p:sp>
      <p:pic>
        <p:nvPicPr>
          <p:cNvPr id="12290" name="Picture 2" descr="La France et le marché européen de l'électricité | TSE">
            <a:extLst>
              <a:ext uri="{FF2B5EF4-FFF2-40B4-BE49-F238E27FC236}">
                <a16:creationId xmlns:a16="http://schemas.microsoft.com/office/drawing/2014/main" id="{BCBD9933-FE2E-4BC9-F526-2DDEDCBC0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2035985"/>
            <a:ext cx="6389346" cy="279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0D967DB-4E4C-06DF-D32D-9AB58DB60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F246C36-D02A-478A-A2B1-30A38C36882C}" type="slidenum"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2295" name="Group 1229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296" name="Rectangle 1229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97" name="Rectangle 1229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4">
            <a:extLst>
              <a:ext uri="{FF2B5EF4-FFF2-40B4-BE49-F238E27FC236}">
                <a16:creationId xmlns:a16="http://schemas.microsoft.com/office/drawing/2014/main" id="{19DC2F93-E9B5-BC97-FD9C-24F81F8886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24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D7A327-8B6B-5A0F-9BD3-BE82B4AF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6D507-F3A1-B504-4270-747B47758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Rôle de la régulation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89856A83-E63C-90DA-72B9-1884D4D4F0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Encadrement du marché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Transparence des échanges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Protection des consommateurs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Respect des règles de concurrence</a:t>
            </a:r>
          </a:p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sz="2000"/>
              <a:t>Stabilité du système</a:t>
            </a:r>
            <a:endParaRPr lang="en-US" altLang="fr-FR" sz="2000" b="0"/>
          </a:p>
        </p:txBody>
      </p:sp>
      <p:pic>
        <p:nvPicPr>
          <p:cNvPr id="11266" name="Picture 2" descr="Pour un nouvel ordre énergétique européen - Fondapol">
            <a:extLst>
              <a:ext uri="{FF2B5EF4-FFF2-40B4-BE49-F238E27FC236}">
                <a16:creationId xmlns:a16="http://schemas.microsoft.com/office/drawing/2014/main" id="{8B82C608-41A5-3939-E320-0FDE597F6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1242268"/>
            <a:ext cx="6389346" cy="438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9722321-F348-EE16-D7F8-CA2FE4D6D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F246C36-D02A-478A-A2B1-30A38C36882C}" type="slidenum"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1271" name="Group 1127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272" name="Rectangle 1127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73" name="Rectangle 1127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4">
            <a:extLst>
              <a:ext uri="{FF2B5EF4-FFF2-40B4-BE49-F238E27FC236}">
                <a16:creationId xmlns:a16="http://schemas.microsoft.com/office/drawing/2014/main" id="{A4CD030B-D825-AE25-6EA4-DFA6770D58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45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B5D3647A-3E0D-E211-B051-5E15A5AE6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218952" cy="686779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438F06C-5A5A-3675-276B-347E372F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379" y="321461"/>
            <a:ext cx="8459343" cy="2875237"/>
          </a:xfrm>
        </p:spPr>
        <p:txBody>
          <a:bodyPr/>
          <a:lstStyle/>
          <a:p>
            <a:r>
              <a:rPr lang="fr-FR" sz="5400" dirty="0"/>
              <a:t>Synthèse du cours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88611ED-7691-B086-C0D7-9AC4170A6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5759" y="3858434"/>
            <a:ext cx="2814808" cy="3406395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F882185-6712-7B7D-C651-62EED4D458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10BD49-CA60-0DA4-0F91-AE5D73021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80E280B-57E9-C6A3-2BFB-8AD9D4AC9141}"/>
              </a:ext>
            </a:extLst>
          </p:cNvPr>
          <p:cNvSpPr/>
          <p:nvPr/>
        </p:nvSpPr>
        <p:spPr>
          <a:xfrm>
            <a:off x="1507089" y="1212220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1" name="Rectangle 30" descr="Coche">
            <a:extLst>
              <a:ext uri="{FF2B5EF4-FFF2-40B4-BE49-F238E27FC236}">
                <a16:creationId xmlns:a16="http://schemas.microsoft.com/office/drawing/2014/main" id="{F253E144-CAE4-0936-6090-66E8267B5434}"/>
              </a:ext>
            </a:extLst>
          </p:cNvPr>
          <p:cNvSpPr/>
          <p:nvPr/>
        </p:nvSpPr>
        <p:spPr>
          <a:xfrm>
            <a:off x="1857941" y="1473185"/>
            <a:ext cx="637913" cy="637913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818F675B-E1BC-9944-0DF6-9452204E5963}"/>
              </a:ext>
            </a:extLst>
          </p:cNvPr>
          <p:cNvGrpSpPr/>
          <p:nvPr/>
        </p:nvGrpSpPr>
        <p:grpSpPr>
          <a:xfrm>
            <a:off x="2625465" y="1212220"/>
            <a:ext cx="5245847" cy="1159843"/>
            <a:chOff x="1118376" y="2288"/>
            <a:chExt cx="5245847" cy="115984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2D36455-0DFD-F88E-5D57-E8548E176582}"/>
                </a:ext>
              </a:extLst>
            </p:cNvPr>
            <p:cNvSpPr/>
            <p:nvPr/>
          </p:nvSpPr>
          <p:spPr>
            <a:xfrm>
              <a:off x="1339618" y="2288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50F676B3-5EA2-B4CA-83CE-D4C75ACDBD5F}"/>
                </a:ext>
              </a:extLst>
            </p:cNvPr>
            <p:cNvSpPr txBox="1"/>
            <p:nvPr/>
          </p:nvSpPr>
          <p:spPr>
            <a:xfrm>
              <a:off x="1118376" y="2288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Marché complexe et structuré</a:t>
              </a:r>
              <a:endParaRPr lang="en-US" sz="2200" kern="1200" dirty="0"/>
            </a:p>
          </p:txBody>
        </p:sp>
      </p:grp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399FD09D-7FEF-D5F3-7A5B-A0AA2338D973}"/>
              </a:ext>
            </a:extLst>
          </p:cNvPr>
          <p:cNvSpPr/>
          <p:nvPr/>
        </p:nvSpPr>
        <p:spPr>
          <a:xfrm>
            <a:off x="1433116" y="2717196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4" name="Rectangle 33" descr="Pièces">
            <a:extLst>
              <a:ext uri="{FF2B5EF4-FFF2-40B4-BE49-F238E27FC236}">
                <a16:creationId xmlns:a16="http://schemas.microsoft.com/office/drawing/2014/main" id="{88E5EF2E-D34D-B236-1051-AD99A3347B33}"/>
              </a:ext>
            </a:extLst>
          </p:cNvPr>
          <p:cNvSpPr/>
          <p:nvPr/>
        </p:nvSpPr>
        <p:spPr>
          <a:xfrm>
            <a:off x="1776477" y="5662833"/>
            <a:ext cx="637913" cy="637913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050717"/>
              <a:satOff val="-275"/>
              <a:lumOff val="65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E3824F7F-84DF-1C37-F3D7-3DBBCF17ABA0}"/>
              </a:ext>
            </a:extLst>
          </p:cNvPr>
          <p:cNvGrpSpPr/>
          <p:nvPr/>
        </p:nvGrpSpPr>
        <p:grpSpPr>
          <a:xfrm>
            <a:off x="2364195" y="2663026"/>
            <a:ext cx="5547144" cy="1178308"/>
            <a:chOff x="1339618" y="1433627"/>
            <a:chExt cx="5547144" cy="117830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749C5F9-DB00-2253-E7BC-977008287B18}"/>
                </a:ext>
              </a:extLst>
            </p:cNvPr>
            <p:cNvSpPr/>
            <p:nvPr/>
          </p:nvSpPr>
          <p:spPr>
            <a:xfrm>
              <a:off x="1339618" y="1452092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79A4A389-C04F-9E38-9A74-28003DD86087}"/>
                </a:ext>
              </a:extLst>
            </p:cNvPr>
            <p:cNvSpPr txBox="1"/>
            <p:nvPr/>
          </p:nvSpPr>
          <p:spPr>
            <a:xfrm>
              <a:off x="1862157" y="1433627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Acteurs multiples</a:t>
              </a:r>
              <a:endParaRPr lang="en-US" sz="2200" kern="1200" dirty="0"/>
            </a:p>
          </p:txBody>
        </p:sp>
      </p:grp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BD9728C7-FF5A-5574-5D1B-D03EB443D7DF}"/>
              </a:ext>
            </a:extLst>
          </p:cNvPr>
          <p:cNvSpPr/>
          <p:nvPr/>
        </p:nvSpPr>
        <p:spPr>
          <a:xfrm>
            <a:off x="1507089" y="4139239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49FDF254-5380-F9C7-900D-F3A615182707}"/>
              </a:ext>
            </a:extLst>
          </p:cNvPr>
          <p:cNvGrpSpPr/>
          <p:nvPr/>
        </p:nvGrpSpPr>
        <p:grpSpPr>
          <a:xfrm>
            <a:off x="2728704" y="4154215"/>
            <a:ext cx="5142608" cy="1202230"/>
            <a:chOff x="1221615" y="2859509"/>
            <a:chExt cx="5142608" cy="120223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C297DB1-B599-6CE9-33EB-38E447FD0DE6}"/>
                </a:ext>
              </a:extLst>
            </p:cNvPr>
            <p:cNvSpPr/>
            <p:nvPr/>
          </p:nvSpPr>
          <p:spPr>
            <a:xfrm>
              <a:off x="1339618" y="2901896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073CCE56-0276-E8EC-CA2F-B654D73A61D9}"/>
                </a:ext>
              </a:extLst>
            </p:cNvPr>
            <p:cNvSpPr txBox="1"/>
            <p:nvPr/>
          </p:nvSpPr>
          <p:spPr>
            <a:xfrm>
              <a:off x="1221615" y="2859509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Contraintes techniques fortes</a:t>
              </a:r>
              <a:endParaRPr lang="en-US" sz="2200" kern="1200" dirty="0"/>
            </a:p>
          </p:txBody>
        </p:sp>
      </p:grp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AD5E7090-EA94-5679-78BC-1ADE540D456A}"/>
              </a:ext>
            </a:extLst>
          </p:cNvPr>
          <p:cNvSpPr/>
          <p:nvPr/>
        </p:nvSpPr>
        <p:spPr>
          <a:xfrm>
            <a:off x="2846707" y="5561632"/>
            <a:ext cx="5024606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5103A958-8D7E-822D-0020-2939AB6071FA}"/>
              </a:ext>
            </a:extLst>
          </p:cNvPr>
          <p:cNvGrpSpPr/>
          <p:nvPr/>
        </p:nvGrpSpPr>
        <p:grpSpPr>
          <a:xfrm>
            <a:off x="2816313" y="5468618"/>
            <a:ext cx="5054999" cy="1252857"/>
            <a:chOff x="1309224" y="4258686"/>
            <a:chExt cx="5054999" cy="125285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A37033B-0A44-4CAC-3DE3-FE738A81C22E}"/>
                </a:ext>
              </a:extLst>
            </p:cNvPr>
            <p:cNvSpPr/>
            <p:nvPr/>
          </p:nvSpPr>
          <p:spPr>
            <a:xfrm>
              <a:off x="1339618" y="4351700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6D45D37C-3F3E-826E-DFA4-D99C00A802AE}"/>
                </a:ext>
              </a:extLst>
            </p:cNvPr>
            <p:cNvSpPr txBox="1"/>
            <p:nvPr/>
          </p:nvSpPr>
          <p:spPr>
            <a:xfrm>
              <a:off x="1309224" y="4258686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Prix influencés par de nombreux facteur</a:t>
              </a:r>
              <a:endParaRPr lang="en-US" sz="2200" kern="1200" dirty="0"/>
            </a:p>
          </p:txBody>
        </p:sp>
      </p:grpSp>
      <p:sp>
        <p:nvSpPr>
          <p:cNvPr id="9" name="Interdiction 8">
            <a:extLst>
              <a:ext uri="{FF2B5EF4-FFF2-40B4-BE49-F238E27FC236}">
                <a16:creationId xmlns:a16="http://schemas.microsoft.com/office/drawing/2014/main" id="{96E39ED7-5AB1-2E29-2894-67BBF78AACEB}"/>
              </a:ext>
            </a:extLst>
          </p:cNvPr>
          <p:cNvSpPr/>
          <p:nvPr/>
        </p:nvSpPr>
        <p:spPr>
          <a:xfrm>
            <a:off x="1736303" y="4486562"/>
            <a:ext cx="644562" cy="579922"/>
          </a:xfrm>
          <a:prstGeom prst="noSmoking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10B3F92B-A50A-EE23-A005-CA68CEC22E92}"/>
              </a:ext>
            </a:extLst>
          </p:cNvPr>
          <p:cNvSpPr/>
          <p:nvPr/>
        </p:nvSpPr>
        <p:spPr>
          <a:xfrm>
            <a:off x="1726064" y="2910003"/>
            <a:ext cx="891362" cy="658820"/>
          </a:xfrm>
          <a:prstGeom prst="mathMultiply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38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6DE7-6720-A511-298C-A3CD5D43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A15F-9400-DFDE-E9D5-2E005C30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8EA5A51-C2C8-ED9D-C69E-DA6195F646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10A0D-6DEF-50FC-5E11-79E33E80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B7C9201-7F50-1E56-62B2-AD90D8ED4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35" y="1328932"/>
            <a:ext cx="11194929" cy="46465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7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Une entreprise industrielle consomme de l’électricité et du gaz pour assurer son activité.</a:t>
            </a:r>
            <a:br>
              <a:rPr lang="fr-FR" dirty="0"/>
            </a:br>
            <a:r>
              <a:rPr lang="fr-FR" dirty="0"/>
              <a:t>Elle observe des variations importantes du prix de l’énergie d’une année sur l’autre et souhaite mieux comprendre le fonctionnement du marché.</a:t>
            </a:r>
          </a:p>
          <a:p>
            <a:r>
              <a:rPr lang="fr-FR" dirty="0"/>
              <a:t>Travail demandé :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Expliquer pourquoi le marché de l’électricité est particulièrement sensible aux variations de l’offre et de la demande.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Citer deux différences majeures entre le marché de l’électricité et celui du gaz.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Expliquer le rôle du marché spot dans la formation des prix de l’énergie.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Indiquer le rôle des principaux acteurs du marché de l’énergie.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Expliquer en quoi les types de contrats structurent les échanges d’énergie entre les acteurs.</a:t>
            </a:r>
          </a:p>
        </p:txBody>
      </p:sp>
    </p:spTree>
    <p:extLst>
      <p:ext uri="{BB962C8B-B14F-4D97-AF65-F5344CB8AC3E}">
        <p14:creationId xmlns:p14="http://schemas.microsoft.com/office/powerpoint/2010/main" val="45363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6DE7-6720-A511-298C-A3CD5D43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A15F-9400-DFDE-E9D5-2E005C30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8EA5A51-C2C8-ED9D-C69E-DA6195F646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10A0D-6DEF-50FC-5E11-79E33E80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031678-73AD-0FFB-DC37-5BE8FDFD3CC9}"/>
              </a:ext>
            </a:extLst>
          </p:cNvPr>
          <p:cNvSpPr txBox="1"/>
          <p:nvPr/>
        </p:nvSpPr>
        <p:spPr>
          <a:xfrm>
            <a:off x="523765" y="1783571"/>
            <a:ext cx="86803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Question 1 : Expliquer pourquoi le marché de l’électricité est particulièrement sensible aux variations de l’offre et de la demande.</a:t>
            </a:r>
            <a:endParaRPr lang="fr-FR" dirty="0"/>
          </a:p>
          <a:p>
            <a:r>
              <a:rPr lang="fr-FR" dirty="0"/>
              <a:t>Le marché de l’électricité est très sensible car l’électricité doit être produite et consommée en temps réel.</a:t>
            </a:r>
            <a:br>
              <a:rPr lang="fr-FR" dirty="0"/>
            </a:br>
            <a:r>
              <a:rPr lang="fr-FR" dirty="0"/>
              <a:t>Il n’existe pas de stockage à grande échelle permettant d’absorber les variations de consommation.</a:t>
            </a:r>
            <a:br>
              <a:rPr lang="fr-FR" dirty="0"/>
            </a:br>
            <a:r>
              <a:rPr lang="fr-FR" dirty="0"/>
              <a:t>Toute variation de l’offre ou de la demande a donc un impact immédiat sur l’équilibre du système et sur les prix.</a:t>
            </a:r>
          </a:p>
        </p:txBody>
      </p:sp>
    </p:spTree>
    <p:extLst>
      <p:ext uri="{BB962C8B-B14F-4D97-AF65-F5344CB8AC3E}">
        <p14:creationId xmlns:p14="http://schemas.microsoft.com/office/powerpoint/2010/main" val="182547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7D33-DF34-BDF9-9DBE-A33E4201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6966C9-F402-F97E-97A9-EC1C0367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473B650-885A-B8AF-706A-D4A3E16F00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816672-B38A-B163-0D01-16626473C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DAF809-47E4-4B89-DAAE-248328E9F29A}"/>
              </a:ext>
            </a:extLst>
          </p:cNvPr>
          <p:cNvSpPr txBox="1"/>
          <p:nvPr/>
        </p:nvSpPr>
        <p:spPr>
          <a:xfrm>
            <a:off x="552340" y="1783571"/>
            <a:ext cx="86803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Question 2 : Citer deux différences majeures entre le marché de l’électricité et celui du gaz.</a:t>
            </a:r>
          </a:p>
          <a:p>
            <a:endParaRPr lang="fr-FR" dirty="0"/>
          </a:p>
          <a:p>
            <a:r>
              <a:rPr lang="fr-FR" dirty="0"/>
              <a:t>L’électricité ne peut pas être stockée facilement et nécessite un équilibre permanent entre production et consommation.</a:t>
            </a:r>
            <a:br>
              <a:rPr lang="fr-FR" dirty="0"/>
            </a:br>
            <a:r>
              <a:rPr lang="fr-FR" dirty="0"/>
              <a:t>Le gaz, en revanche, peut être stocké, ce qui apporte plus de flexibilité dans la gestion de l’approvisionnement.</a:t>
            </a:r>
            <a:br>
              <a:rPr lang="fr-FR" dirty="0"/>
            </a:br>
            <a:r>
              <a:rPr lang="fr-FR" dirty="0"/>
              <a:t>De plus, le marché du gaz est fortement dépendant des importations et du contexte géopolitique international.</a:t>
            </a:r>
          </a:p>
        </p:txBody>
      </p:sp>
    </p:spTree>
    <p:extLst>
      <p:ext uri="{BB962C8B-B14F-4D97-AF65-F5344CB8AC3E}">
        <p14:creationId xmlns:p14="http://schemas.microsoft.com/office/powerpoint/2010/main" val="39373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8ABD6-B201-AF16-4D2A-D1AC03EA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4210B-2D2A-C429-498B-7C37384C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E958992-E355-16DC-4E58-9F3F18D100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E986DC-B82D-DB23-ACC2-DF1D15140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66DA7F5-1C48-1FE5-B807-6F0AEF4F9BE4}"/>
              </a:ext>
            </a:extLst>
          </p:cNvPr>
          <p:cNvSpPr txBox="1"/>
          <p:nvPr/>
        </p:nvSpPr>
        <p:spPr>
          <a:xfrm>
            <a:off x="523765" y="1783571"/>
            <a:ext cx="86803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Question 3 : Expliquer le rôle du marché spot dans la formation des prix de l’énergie.</a:t>
            </a:r>
          </a:p>
          <a:p>
            <a:endParaRPr lang="fr-FR" dirty="0"/>
          </a:p>
          <a:p>
            <a:r>
              <a:rPr lang="fr-FR" dirty="0"/>
              <a:t>Le marché spot correspond à des échanges d’énergie réalisés pour une livraison très proche, souvent le jour même où le lendemain.</a:t>
            </a:r>
            <a:br>
              <a:rPr lang="fr-FR" dirty="0"/>
            </a:br>
            <a:r>
              <a:rPr lang="fr-FR" dirty="0"/>
              <a:t>Les prix qui y sont observés reflètent directement l’équilibre entre l’offre et la demande à un instant donné.</a:t>
            </a:r>
            <a:br>
              <a:rPr lang="fr-FR" dirty="0"/>
            </a:br>
            <a:r>
              <a:rPr lang="fr-FR" dirty="0"/>
              <a:t>Le marché spot joue donc un rôle de référence dans la formation des prix de l’énergie.</a:t>
            </a:r>
          </a:p>
        </p:txBody>
      </p:sp>
    </p:spTree>
    <p:extLst>
      <p:ext uri="{BB962C8B-B14F-4D97-AF65-F5344CB8AC3E}">
        <p14:creationId xmlns:p14="http://schemas.microsoft.com/office/powerpoint/2010/main" val="49728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FCC9-0FAD-B89A-DF76-0E3805CC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3C9698-33F4-175D-9C2A-A18397EC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92D2EEA-EA54-BA8C-9606-4847A49E74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768198-CC9D-6DAE-4D6D-5E43C5A8F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CA1D18-E0E8-DAF9-BFF2-5D5A99C663DC}"/>
              </a:ext>
            </a:extLst>
          </p:cNvPr>
          <p:cNvSpPr txBox="1"/>
          <p:nvPr/>
        </p:nvSpPr>
        <p:spPr>
          <a:xfrm>
            <a:off x="523765" y="1783571"/>
            <a:ext cx="86803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Question 4 : Indiquer le rôle des principaux acteurs du marché de l’énergie.</a:t>
            </a:r>
          </a:p>
          <a:p>
            <a:endParaRPr lang="fr-FR" dirty="0"/>
          </a:p>
          <a:p>
            <a:r>
              <a:rPr lang="fr-FR" dirty="0"/>
              <a:t>Les producteurs produisent l’électricité ou extraient le gaz.</a:t>
            </a:r>
            <a:br>
              <a:rPr lang="fr-FR" dirty="0"/>
            </a:br>
            <a:r>
              <a:rPr lang="fr-FR" dirty="0"/>
              <a:t>Les fournisseurs achètent l’énergie sur les marchés et la vendent aux consommateurs.</a:t>
            </a:r>
            <a:br>
              <a:rPr lang="fr-FR" dirty="0"/>
            </a:br>
            <a:r>
              <a:rPr lang="fr-FR" dirty="0"/>
              <a:t>Les gestionnaires de réseaux assurent le transport et la distribution de l’énergie.</a:t>
            </a:r>
            <a:br>
              <a:rPr lang="fr-FR" dirty="0"/>
            </a:br>
            <a:r>
              <a:rPr lang="fr-FR" dirty="0"/>
              <a:t>Les autorités de régulation veillent au bon fonctionnement et à l’encadrement du marché.</a:t>
            </a:r>
          </a:p>
        </p:txBody>
      </p:sp>
    </p:spTree>
    <p:extLst>
      <p:ext uri="{BB962C8B-B14F-4D97-AF65-F5344CB8AC3E}">
        <p14:creationId xmlns:p14="http://schemas.microsoft.com/office/powerpoint/2010/main" val="134764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862DB-87D8-2A98-3F47-0D40501C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1BEEC3-F4F9-FD83-5127-462103CE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068A943-304D-0B3D-43AE-DA1A0CE549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97E788-79B1-BA04-ED40-1545110D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8C85A7A-E02F-6382-8E85-3C07B9115F32}"/>
              </a:ext>
            </a:extLst>
          </p:cNvPr>
          <p:cNvSpPr txBox="1"/>
          <p:nvPr/>
        </p:nvSpPr>
        <p:spPr>
          <a:xfrm>
            <a:off x="523765" y="1783571"/>
            <a:ext cx="86803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Question 5 : Expliquer en quoi les types de contrats structurent les échanges d’énergie entre les acteurs.</a:t>
            </a:r>
          </a:p>
          <a:p>
            <a:r>
              <a:rPr lang="fr-FR" dirty="0"/>
              <a:t>Les contrats définissent les conditions de fourniture de l’énergie, telles que les volumes, les périodes de livraison et les modalités générales.</a:t>
            </a:r>
            <a:br>
              <a:rPr lang="fr-FR" dirty="0"/>
            </a:br>
            <a:r>
              <a:rPr lang="fr-FR" dirty="0"/>
              <a:t>Ils permettent de formaliser les échanges entre les acteurs du marché et d’organiser l’approvisionnement en énergie.</a:t>
            </a:r>
            <a:br>
              <a:rPr lang="fr-FR" dirty="0"/>
            </a:br>
            <a:r>
              <a:rPr lang="fr-FR" dirty="0"/>
              <a:t>Les types de contrats encadrent donc le fonctionnement du marché sans préjuger des stratégies d’achat..</a:t>
            </a:r>
          </a:p>
        </p:txBody>
      </p:sp>
    </p:spTree>
    <p:extLst>
      <p:ext uri="{BB962C8B-B14F-4D97-AF65-F5344CB8AC3E}">
        <p14:creationId xmlns:p14="http://schemas.microsoft.com/office/powerpoint/2010/main" val="898854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937DA82-A80E-7761-4908-78FE12BC88A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47202" y="4023145"/>
            <a:ext cx="10863272" cy="1138401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endParaRPr lang="fr-FR" i="1" dirty="0">
              <a:solidFill>
                <a:schemeClr val="tx2"/>
              </a:solidFill>
              <a:ea typeface="Calibri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788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-COUVERTU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2.xml><?xml version="1.0" encoding="utf-8"?>
<a:theme xmlns:a="http://schemas.openxmlformats.org/drawingml/2006/main" name="2-SOMMAI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3.xml><?xml version="1.0" encoding="utf-8"?>
<a:theme xmlns:a="http://schemas.openxmlformats.org/drawingml/2006/main" name="3.2-CHAPITRES EX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4.xml><?xml version="1.0" encoding="utf-8"?>
<a:theme xmlns:a="http://schemas.openxmlformats.org/drawingml/2006/main" name="4.1-Corpu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5.xml><?xml version="1.0" encoding="utf-8"?>
<a:theme xmlns:a="http://schemas.openxmlformats.org/drawingml/2006/main" name="3.1-CHAPITRE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5-Fin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8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E937A98-06A5-4840-8B09-64C4AB41050A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3A8A710-D4C6-492D-8141-8A4E235E3304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63D34E541314F80CD24A648ABC5FB" ma:contentTypeVersion="7" ma:contentTypeDescription="Create a new document." ma:contentTypeScope="" ma:versionID="fe3c99d7a639c00420632a79ce9d5da4">
  <xsd:schema xmlns:xsd="http://www.w3.org/2001/XMLSchema" xmlns:xs="http://www.w3.org/2001/XMLSchema" xmlns:p="http://schemas.microsoft.com/office/2006/metadata/properties" xmlns:ns2="cd5233e2-74fb-488a-aed8-75637c784312" targetNamespace="http://schemas.microsoft.com/office/2006/metadata/properties" ma:root="true" ma:fieldsID="e0f7e7fd5fef82a93d029aca2c45b4b9" ns2:_="">
    <xsd:import namespace="cd5233e2-74fb-488a-aed8-75637c784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233e2-74fb-488a-aed8-75637c784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7130EB-DF45-42FA-9324-31E3910341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4249CD-ACED-4D7C-93D6-85B52B7A2FAE}">
  <ds:schemaRefs>
    <ds:schemaRef ds:uri="http://purl.org/dc/terms/"/>
    <ds:schemaRef ds:uri="http://purl.org/dc/elements/1.1/"/>
    <ds:schemaRef ds:uri="657e7fb4-5038-4c53-afe4-01eaca43a1cf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d24fc02b-f8a1-4c49-8f09-7691813341f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BC7079-A794-4F28-A4CE-2129045481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5233e2-74fb-488a-aed8-75637c7843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f5c8052-b1ea-40d1-8cd5-ea0c204ca84f}" enabled="1" method="Standard" siteId="{19e51c11-d919-4a98-899d-9b9dc33f4e0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Thème Junia</Template>
  <TotalTime>288</TotalTime>
  <Words>1730</Words>
  <Application>Microsoft Office PowerPoint</Application>
  <PresentationFormat>Widescreen</PresentationFormat>
  <Paragraphs>188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1-COUVERTURE</vt:lpstr>
      <vt:lpstr>2-SOMMAIRE</vt:lpstr>
      <vt:lpstr>3.2-CHAPITRES EXTERNE</vt:lpstr>
      <vt:lpstr>4.1-Corpus INTERNE</vt:lpstr>
      <vt:lpstr>3.1-CHAPITRES INTERNE</vt:lpstr>
      <vt:lpstr>Thème Office</vt:lpstr>
      <vt:lpstr>5-Fin</vt:lpstr>
      <vt:lpstr>Comprendre le fonctionnement du marché de l’énergie. Identifier les acteurs principaux. Distinguer l’électricité et le gaz. Comprendre la formation des prix.</vt:lpstr>
      <vt:lpstr>Définition et organisation du marché de l’énergie</vt:lpstr>
      <vt:lpstr>Marché de l’énergie : définition </vt:lpstr>
      <vt:lpstr>Acteurs du marché de l’énergie</vt:lpstr>
      <vt:lpstr>Spécificités de l’électricité</vt:lpstr>
      <vt:lpstr>Spécificités du gaz</vt:lpstr>
      <vt:lpstr>Fonctionnement général du marché</vt:lpstr>
      <vt:lpstr>Types de marchés de l’énergie</vt:lpstr>
      <vt:lpstr>Le marché spot</vt:lpstr>
      <vt:lpstr>Types de contrats de l’énergie</vt:lpstr>
      <vt:lpstr>Le PPA (Power Purchase Agreement)</vt:lpstr>
      <vt:lpstr>Facteurs influençant les prix</vt:lpstr>
      <vt:lpstr>Marché de l’énergie en Europe</vt:lpstr>
      <vt:lpstr>Rôle de la régulation</vt:lpstr>
      <vt:lpstr>Synthèse du cours</vt:lpstr>
      <vt:lpstr>Exercice </vt:lpstr>
      <vt:lpstr>CORRECTION </vt:lpstr>
      <vt:lpstr>CORRECTION </vt:lpstr>
      <vt:lpstr>CORRECTION </vt:lpstr>
      <vt:lpstr>CORRECTION </vt:lpstr>
      <vt:lpstr>CORRECTION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SAS</dc:creator>
  <cp:lastModifiedBy>Timothé EVEILLARD</cp:lastModifiedBy>
  <cp:revision>11</cp:revision>
  <dcterms:created xsi:type="dcterms:W3CDTF">2025-10-20T13:43:34Z</dcterms:created>
  <dcterms:modified xsi:type="dcterms:W3CDTF">2026-01-09T12:27:38Z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0x0101004DE63D34E541314F80CD24A648ABC5FB</vt:lpwstr>
  </property>
</Properties>
</file>