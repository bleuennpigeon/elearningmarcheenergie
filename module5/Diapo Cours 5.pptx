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4"/>
    <p:sldMasterId id="2147483902" r:id="rId5"/>
    <p:sldMasterId id="2147483879" r:id="rId6"/>
    <p:sldMasterId id="2147483917" r:id="rId7"/>
    <p:sldMasterId id="2147483851" r:id="rId8"/>
    <p:sldMasterId id="2147483928" r:id="rId9"/>
    <p:sldMasterId id="2147483913" r:id="rId10"/>
  </p:sldMasterIdLst>
  <p:notesMasterIdLst>
    <p:notesMasterId r:id="rId33"/>
  </p:notesMasterIdLst>
  <p:sldIdLst>
    <p:sldId id="278" r:id="rId11"/>
    <p:sldId id="279" r:id="rId12"/>
    <p:sldId id="280" r:id="rId13"/>
    <p:sldId id="282" r:id="rId14"/>
    <p:sldId id="283" r:id="rId15"/>
    <p:sldId id="281" r:id="rId16"/>
    <p:sldId id="285" r:id="rId17"/>
    <p:sldId id="284" r:id="rId18"/>
    <p:sldId id="286" r:id="rId19"/>
    <p:sldId id="290" r:id="rId20"/>
    <p:sldId id="287" r:id="rId21"/>
    <p:sldId id="292" r:id="rId22"/>
    <p:sldId id="288" r:id="rId23"/>
    <p:sldId id="289" r:id="rId24"/>
    <p:sldId id="294" r:id="rId25"/>
    <p:sldId id="295" r:id="rId26"/>
    <p:sldId id="296" r:id="rId27"/>
    <p:sldId id="291" r:id="rId28"/>
    <p:sldId id="297" r:id="rId29"/>
    <p:sldId id="298" r:id="rId30"/>
    <p:sldId id="299" r:id="rId31"/>
    <p:sldId id="293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4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06E2C3-DFA5-1D5A-EA5B-E47574E02E70}" v="11" dt="2026-01-09T12:23:39.017"/>
    <p1510:client id="{8C0F4CBE-CD37-4F9F-B49A-3A97FB211FBB}" v="51" dt="2026-01-07T15:20:37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78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microsoft.com/office/2015/10/relationships/revisionInfo" Target="revisionInfo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é EVEILLARD" userId="S::timothe.eveillard@student.junia.com::448f0ee0-a7c7-4812-81d4-5d73fdf4ebed" providerId="AD" clId="Web-{4606E2C3-DFA5-1D5A-EA5B-E47574E02E70}"/>
    <pc:docChg chg="modSld">
      <pc:chgData name="Timothé EVEILLARD" userId="S::timothe.eveillard@student.junia.com::448f0ee0-a7c7-4812-81d4-5d73fdf4ebed" providerId="AD" clId="Web-{4606E2C3-DFA5-1D5A-EA5B-E47574E02E70}" dt="2026-01-09T12:23:35.876" v="7" actId="20577"/>
      <pc:docMkLst>
        <pc:docMk/>
      </pc:docMkLst>
      <pc:sldChg chg="modSp">
        <pc:chgData name="Timothé EVEILLARD" userId="S::timothe.eveillard@student.junia.com::448f0ee0-a7c7-4812-81d4-5d73fdf4ebed" providerId="AD" clId="Web-{4606E2C3-DFA5-1D5A-EA5B-E47574E02E70}" dt="2026-01-09T12:23:20.173" v="2" actId="20577"/>
        <pc:sldMkLst>
          <pc:docMk/>
          <pc:sldMk cId="1841246703" sldId="291"/>
        </pc:sldMkLst>
        <pc:spChg chg="mod">
          <ac:chgData name="Timothé EVEILLARD" userId="S::timothe.eveillard@student.junia.com::448f0ee0-a7c7-4812-81d4-5d73fdf4ebed" providerId="AD" clId="Web-{4606E2C3-DFA5-1D5A-EA5B-E47574E02E70}" dt="2026-01-09T12:23:20.173" v="2" actId="20577"/>
          <ac:spMkLst>
            <pc:docMk/>
            <pc:sldMk cId="1841246703" sldId="291"/>
            <ac:spMk id="2" creationId="{304DE46B-5711-77D3-9111-79E02F111E2E}"/>
          </ac:spMkLst>
        </pc:spChg>
      </pc:sldChg>
      <pc:sldChg chg="modSp">
        <pc:chgData name="Timothé EVEILLARD" userId="S::timothe.eveillard@student.junia.com::448f0ee0-a7c7-4812-81d4-5d73fdf4ebed" providerId="AD" clId="Web-{4606E2C3-DFA5-1D5A-EA5B-E47574E02E70}" dt="2026-01-09T12:23:31.361" v="6" actId="20577"/>
        <pc:sldMkLst>
          <pc:docMk/>
          <pc:sldMk cId="2455105144" sldId="297"/>
        </pc:sldMkLst>
        <pc:spChg chg="mod">
          <ac:chgData name="Timothé EVEILLARD" userId="S::timothe.eveillard@student.junia.com::448f0ee0-a7c7-4812-81d4-5d73fdf4ebed" providerId="AD" clId="Web-{4606E2C3-DFA5-1D5A-EA5B-E47574E02E70}" dt="2026-01-09T12:23:31.361" v="6" actId="20577"/>
          <ac:spMkLst>
            <pc:docMk/>
            <pc:sldMk cId="2455105144" sldId="297"/>
            <ac:spMk id="2" creationId="{D4A8D050-5F7F-F2EA-8D12-28B795BA30A2}"/>
          </ac:spMkLst>
        </pc:spChg>
      </pc:sldChg>
      <pc:sldChg chg="modSp">
        <pc:chgData name="Timothé EVEILLARD" userId="S::timothe.eveillard@student.junia.com::448f0ee0-a7c7-4812-81d4-5d73fdf4ebed" providerId="AD" clId="Web-{4606E2C3-DFA5-1D5A-EA5B-E47574E02E70}" dt="2026-01-09T12:23:35.876" v="7" actId="20577"/>
        <pc:sldMkLst>
          <pc:docMk/>
          <pc:sldMk cId="991617196" sldId="298"/>
        </pc:sldMkLst>
        <pc:spChg chg="mod">
          <ac:chgData name="Timothé EVEILLARD" userId="S::timothe.eveillard@student.junia.com::448f0ee0-a7c7-4812-81d4-5d73fdf4ebed" providerId="AD" clId="Web-{4606E2C3-DFA5-1D5A-EA5B-E47574E02E70}" dt="2026-01-09T12:23:35.876" v="7" actId="20577"/>
          <ac:spMkLst>
            <pc:docMk/>
            <pc:sldMk cId="991617196" sldId="298"/>
            <ac:spMk id="2" creationId="{4055138D-6FEE-46AE-83D0-671F9B4CB2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4BCC2-5A92-486E-9A43-8B9266EDB282}" type="datetimeFigureOut">
              <a:rPr lang="fr-FR" smtClean="0"/>
              <a:t>09/01/2026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C0369-C646-4CDD-90C4-E8705C94376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772EFF6D-0E37-C170-6E8F-791B2E35C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400" y="0"/>
            <a:ext cx="81276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D1EC-00BA-090F-4890-8A8449B213D6}"/>
              </a:ext>
            </a:extLst>
          </p:cNvPr>
          <p:cNvSpPr/>
          <p:nvPr userDrawn="1"/>
        </p:nvSpPr>
        <p:spPr>
          <a:xfrm>
            <a:off x="1" y="0"/>
            <a:ext cx="4064399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09DC96-23C2-8373-05B0-2E90FE5E41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2524" y="134362"/>
            <a:ext cx="779751" cy="1497617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4E4A55D5-8C7F-E0F2-769A-1198F3D1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91" y="4080396"/>
            <a:ext cx="6757367" cy="2777604"/>
          </a:xfrm>
        </p:spPr>
        <p:txBody>
          <a:bodyPr anchor="t" anchorCtr="0"/>
          <a:lstStyle>
            <a:lvl1pPr algn="l">
              <a:defRPr sz="4800" b="1" i="0" cap="none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75FF3-DB1B-B1AF-EBE8-DC7553A27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591" y="3185157"/>
            <a:ext cx="6757367" cy="779751"/>
          </a:xfrm>
        </p:spPr>
        <p:txBody>
          <a:bodyPr anchor="ctr" anchorCtr="0"/>
          <a:lstStyle>
            <a:lvl1pPr marL="0" indent="0" algn="l">
              <a:lnSpc>
                <a:spcPct val="13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D8AE9-08A4-EFF2-4F54-C071391D5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81" y="2848291"/>
            <a:ext cx="8319493" cy="1161417"/>
          </a:xfrm>
        </p:spPr>
        <p:txBody>
          <a:bodyPr anchor="t" anchorCtr="0"/>
          <a:lstStyle>
            <a:lvl1pPr marL="514350" indent="-514350" algn="ctr">
              <a:buFont typeface="+mj-lt"/>
              <a:buAutoNum type="arabicPeriod"/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404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6 EXTER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6C9007-5C83-E2C9-8FE1-6E103CC952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1A022-1955-8E84-264F-DA8C787616D7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2DD95BA4-8D6D-20C0-7EC3-6BDE16C2E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9FA3845-7785-CB90-DF4D-2EC400774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B11E268-1DBC-ED3D-74AC-C7ED3DB6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03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5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668EC5C-13C9-6D19-B4B0-570B52BFD9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90D4-9D79-EB05-FA2D-6AB45C2F7BC3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CF84035D-A86A-F191-7DBD-129CD2D55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28C0647-6D89-89EF-2BF8-167F40D4A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0B6F0A0-64FF-C6D0-EC81-F1D699C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09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4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4D3005C-7EE6-36A2-687A-ADED0A2E3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E25A5-F183-0A8C-FC3E-BA204BD1BEDB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FE9C5DAC-9AD4-475B-FE95-4F79829E1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2FAD66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180EFFC-540D-BDAC-A87B-F3F645506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3F3CE54-053C-2147-EB09-1BB612E0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2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7B327B4-F876-873C-33A0-B48047ECB9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613B6-7965-C6B5-12FB-5B1B8B2AF5A0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D3A28C71-9174-F7A3-8AFE-9E1672CBA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00919B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0548928-AC40-C806-C2A5-399F2F453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9E869DE-F122-AFC9-E0D0-5B041E20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27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1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3A6813C-B546-5432-BAAA-59A5D751A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930BC-1753-B241-B5F0-BC9CC06D66F5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DE8ACC-D335-3D3B-3D12-DA4C69B5A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B9B5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36D9D4-5FE9-D0E3-D926-E4E33B130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4DAE5F12-80CD-8562-82F6-10F7F426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7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3 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14F6AA-087B-CE36-96C0-427F96B4A99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D0DE6E-8BB1-7EAF-0A35-FB3905B45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6095" y="-311727"/>
            <a:ext cx="3908069" cy="7505973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A56199FF-4002-2744-182B-DD250F36A7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24" y="3844296"/>
            <a:ext cx="2770295" cy="3434012"/>
          </a:xfrm>
          <a:prstGeom prst="rect">
            <a:avLst/>
          </a:prstGeom>
        </p:spPr>
      </p:pic>
      <p:sp>
        <p:nvSpPr>
          <p:cNvPr id="19" name="Title 19">
            <a:extLst>
              <a:ext uri="{FF2B5EF4-FFF2-40B4-BE49-F238E27FC236}">
                <a16:creationId xmlns:a16="http://schemas.microsoft.com/office/drawing/2014/main" id="{EF18C0AC-6DBA-94F4-5062-2FEE5DE05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A331F-5B5E-77DE-69E1-411B73E47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83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-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1012D-454D-B585-E4E4-11998A891E3E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8EDFF77-90A4-03C2-086F-CB04B6A14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028216"/>
            <a:ext cx="12192001" cy="209357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B6C0139-F20E-7AA7-3925-D88D22B38B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081" y="4966007"/>
            <a:ext cx="2225836" cy="22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LEVEL</a:t>
            </a:r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0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i="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441" y="2869593"/>
            <a:ext cx="5773230" cy="1143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6D76721-85E3-138A-A9B1-66888669C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140" t="4154" b="4479"/>
          <a:stretch>
            <a:fillRect/>
          </a:stretch>
        </p:blipFill>
        <p:spPr>
          <a:xfrm>
            <a:off x="-12812" y="0"/>
            <a:ext cx="253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GILROY-EXTRA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927" r:id="rId2"/>
    <p:sldLayoutId id="2147483884" r:id="rId3"/>
    <p:sldLayoutId id="2147483883" r:id="rId4"/>
    <p:sldLayoutId id="2147483881" r:id="rId5"/>
    <p:sldLayoutId id="214748388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695689"/>
            <a:ext cx="1104782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788487"/>
            <a:ext cx="11047822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6CD7B-9C42-AEF7-B204-006627AD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291" y="6356350"/>
            <a:ext cx="7760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F112D-4D24-0690-DFFA-EF1B44470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F246C36-D02A-478A-A2B1-30A38C36882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5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09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2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jpeg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jpeg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6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31.jpe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0A36B49-3E6A-1F81-19D7-E56187C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080395"/>
            <a:ext cx="3845490" cy="2658607"/>
          </a:xfrm>
        </p:spPr>
        <p:txBody>
          <a:bodyPr/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fr-FR" sz="2000" dirty="0"/>
              <a:t>Comprendre le rôle de l’acheteur énergie</a:t>
            </a:r>
            <a:br>
              <a:rPr lang="fr-FR" sz="2000" dirty="0"/>
            </a:br>
            <a:r>
              <a:rPr lang="fr-FR" sz="2000" dirty="0"/>
              <a:t>Identifier les risques liés aux marchés</a:t>
            </a:r>
            <a:br>
              <a:rPr lang="fr-FR" sz="2000" dirty="0"/>
            </a:br>
            <a:r>
              <a:rPr lang="fr-FR" sz="2000" dirty="0"/>
              <a:t>Comparer les types de contrats</a:t>
            </a:r>
            <a:br>
              <a:rPr lang="fr-FR" sz="2000" dirty="0"/>
            </a:br>
            <a:r>
              <a:rPr lang="fr-FR" sz="2000" dirty="0"/>
              <a:t>Construire une stratégie d’achat adaptée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E15AE3-C690-CEC1-408D-7E35F3C59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5FA7BB-14FB-A392-9740-4FA6DB2AB820}"/>
              </a:ext>
            </a:extLst>
          </p:cNvPr>
          <p:cNvSpPr txBox="1">
            <a:spLocks/>
          </p:cNvSpPr>
          <p:nvPr/>
        </p:nvSpPr>
        <p:spPr>
          <a:xfrm>
            <a:off x="5295373" y="728865"/>
            <a:ext cx="5877050" cy="16162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none" baseline="0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Cours 5 : Stratégie d’achat et gestion du risque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4BABB5FB-6382-CC42-0344-ED0008505498}"/>
              </a:ext>
            </a:extLst>
          </p:cNvPr>
          <p:cNvSpPr txBox="1">
            <a:spLocks/>
          </p:cNvSpPr>
          <p:nvPr/>
        </p:nvSpPr>
        <p:spPr>
          <a:xfrm>
            <a:off x="993749" y="4139033"/>
            <a:ext cx="587705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427CE2F1-24E6-CBD7-5E01-EF30CF4DBCD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/>
              <a:pPr/>
              <a:t>1</a:t>
            </a:fld>
            <a:endParaRPr lang="fr-FR" dirty="0"/>
          </a:p>
        </p:txBody>
      </p:sp>
      <p:pic>
        <p:nvPicPr>
          <p:cNvPr id="1026" name="Picture 2" descr="Directions des achats : améliorez la gestion du risque fournisseur">
            <a:extLst>
              <a:ext uri="{FF2B5EF4-FFF2-40B4-BE49-F238E27FC236}">
                <a16:creationId xmlns:a16="http://schemas.microsoft.com/office/drawing/2014/main" id="{5B1C615E-34FF-C773-3DB1-3C5CD85F97CD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r="20341"/>
          <a:stretch>
            <a:fillRect/>
          </a:stretch>
        </p:blipFill>
        <p:spPr bwMode="auto">
          <a:xfrm>
            <a:off x="5962398" y="2702526"/>
            <a:ext cx="4684615" cy="395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34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198B-4C73-2BE3-07B2-2A9CF431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E6D0CC02-EDB7-73B1-0A7B-4F8D86A9EB68}"/>
              </a:ext>
            </a:extLst>
          </p:cNvPr>
          <p:cNvSpPr txBox="1">
            <a:spLocks/>
          </p:cNvSpPr>
          <p:nvPr/>
        </p:nvSpPr>
        <p:spPr>
          <a:xfrm>
            <a:off x="8330711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Synthèse &amp; Exercice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DC935F-4B2D-D05B-F423-8E01C896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033" y="2186487"/>
            <a:ext cx="2697036" cy="1161417"/>
          </a:xfrm>
          <a:solidFill>
            <a:schemeClr val="bg1"/>
          </a:solidFill>
        </p:spPr>
        <p:txBody>
          <a:bodyPr anchor="ctr" anchorCtr="0"/>
          <a:lstStyle/>
          <a:p>
            <a:pPr marL="0" lvl="0" indent="0">
              <a:lnSpc>
                <a:spcPct val="100000"/>
              </a:lnSpc>
              <a:buNone/>
              <a:defRPr cap="all"/>
            </a:pPr>
            <a:r>
              <a:rPr lang="fr-FR" sz="1800" dirty="0"/>
              <a:t>rappels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EDA29FD-A85B-8646-F714-A68CB96EBAF0}"/>
              </a:ext>
            </a:extLst>
          </p:cNvPr>
          <p:cNvSpPr txBox="1">
            <a:spLocks/>
          </p:cNvSpPr>
          <p:nvPr/>
        </p:nvSpPr>
        <p:spPr>
          <a:xfrm>
            <a:off x="3011137" y="4824488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Stratégies d’achat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0F329AA-78F2-5BD0-1D32-45D3A60AF1E5}"/>
              </a:ext>
            </a:extLst>
          </p:cNvPr>
          <p:cNvSpPr txBox="1">
            <a:spLocks/>
          </p:cNvSpPr>
          <p:nvPr/>
        </p:nvSpPr>
        <p:spPr>
          <a:xfrm>
            <a:off x="5670924" y="4671512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Gestion du risque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406262F-D46A-F769-F93F-194D579FF505}"/>
              </a:ext>
            </a:extLst>
          </p:cNvPr>
          <p:cNvSpPr txBox="1">
            <a:spLocks/>
          </p:cNvSpPr>
          <p:nvPr/>
        </p:nvSpPr>
        <p:spPr>
          <a:xfrm>
            <a:off x="8330711" y="2359826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Types de contrats d’achat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7A3485-E720-5CBF-B4B6-9927B4138552}"/>
              </a:ext>
            </a:extLst>
          </p:cNvPr>
          <p:cNvSpPr txBox="1">
            <a:spLocks/>
          </p:cNvSpPr>
          <p:nvPr/>
        </p:nvSpPr>
        <p:spPr>
          <a:xfrm>
            <a:off x="5670924" y="2229147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Notion de risque énergétique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663C608-528A-5E16-68E0-A98D62AF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53" y="1209557"/>
            <a:ext cx="686440" cy="116141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4FE8155-8B6A-D855-AB01-83E4D04DB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32" y="1209558"/>
            <a:ext cx="959714" cy="116141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A5E9459-7D77-1A0C-F294-889B8CAAA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433" y="1209557"/>
            <a:ext cx="936942" cy="1161418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83292277-B390-1AE2-C310-5DD464263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5692" y="3663071"/>
            <a:ext cx="1161418" cy="1161418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067046E-A654-50FC-F45A-3F75B04244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7980" y="3663071"/>
            <a:ext cx="1018274" cy="1161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E900863C-F297-4163-CF60-5DF671A10A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47047" y="3663071"/>
            <a:ext cx="959714" cy="1161417"/>
          </a:xfrm>
          <a:prstGeom prst="rect">
            <a:avLst/>
          </a:prstGeom>
        </p:spPr>
      </p:pic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85113AD8-20E7-1564-1A1E-04AE8F039D2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>
                <a:solidFill>
                  <a:schemeClr val="tx1">
                    <a:lumMod val="50000"/>
                  </a:schemeClr>
                </a:solidFill>
              </a:rPr>
              <a:pPr/>
              <a:t>2</a:t>
            </a:fld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1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F1C5FBF0-514A-BFAC-8A41-F5B104C3D8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A6235DB-A401-7C13-245D-C02F11AF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5879" y="6356349"/>
            <a:ext cx="2982811" cy="365125"/>
          </a:xfrm>
        </p:spPr>
        <p:txBody>
          <a:bodyPr/>
          <a:lstStyle/>
          <a:p>
            <a:fld id="{8F246C36-D02A-478A-A2B1-30A38C36882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A750865-48C6-ED0A-A0FA-BF5B6E3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624" y="136525"/>
            <a:ext cx="7126727" cy="2029159"/>
          </a:xfrm>
        </p:spPr>
        <p:txBody>
          <a:bodyPr/>
          <a:lstStyle/>
          <a:p>
            <a:r>
              <a:rPr lang="fr-FR" sz="5400" dirty="0"/>
              <a:t>Rappel : marchés de l’électricité et du gaz</a:t>
            </a:r>
            <a:br>
              <a:rPr lang="fr-FR" sz="5400" dirty="0"/>
            </a:b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9B3C65-F91C-9049-137A-8624B56B2A63}"/>
              </a:ext>
            </a:extLst>
          </p:cNvPr>
          <p:cNvSpPr txBox="1"/>
          <p:nvPr/>
        </p:nvSpPr>
        <p:spPr>
          <a:xfrm>
            <a:off x="0" y="1955764"/>
            <a:ext cx="57300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Les marchés de l’électricité et du gaz fonctionnent selon des règles économiques communes, mais présentent des spécificités importantes qui influencent fortement les prix.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Marchés organisés et concurrentiels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Prix déterminés par l’offre et la demande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Électricité : production et consommation en temps réel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Gaz : possibilité de stockage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Sensibilité aux variations de marché</a:t>
            </a:r>
          </a:p>
        </p:txBody>
      </p:sp>
      <p:pic>
        <p:nvPicPr>
          <p:cNvPr id="1027" name="Picture 3" descr="Prix de l'électricité et du gaz : les tarifs régulés protègent-ils les  consommateurs ? - Le Parisien">
            <a:extLst>
              <a:ext uri="{FF2B5EF4-FFF2-40B4-BE49-F238E27FC236}">
                <a16:creationId xmlns:a16="http://schemas.microsoft.com/office/drawing/2014/main" id="{760A5B77-2C32-4296-2E75-F7ADC0B9A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012" y="2165684"/>
            <a:ext cx="3272735" cy="3877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86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Différences entre électricité et gaz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5" y="1504335"/>
            <a:ext cx="4149866" cy="456655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</a:pPr>
            <a:r>
              <a:rPr lang="fr-FR" sz="2000" dirty="0"/>
              <a:t>Électricité :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Production = consommation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Non stockable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Très volatile</a:t>
            </a:r>
            <a:endParaRPr lang="fr-FR" altLang="fr-FR" sz="2000" dirty="0">
              <a:latin typeface="Arial" panose="020B0604020202020204" pitchFamily="34" charset="0"/>
            </a:endParaRPr>
          </a:p>
          <a:p>
            <a:pPr lvl="0" defTabSz="915988" eaLnBrk="0" fontAlgn="base" hangingPunct="0">
              <a:spcBef>
                <a:spcPct val="0"/>
              </a:spcBef>
            </a:pPr>
            <a:r>
              <a:rPr lang="fr-FR" sz="2000" dirty="0"/>
              <a:t>Gaz :</a:t>
            </a:r>
          </a:p>
          <a:p>
            <a:pPr marL="342900" lvl="0" indent="-342900" defTabSz="915988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Stockable</a:t>
            </a:r>
          </a:p>
          <a:p>
            <a:pPr marL="342900" lvl="0" indent="-342900" algn="l" defTabSz="915988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Plus flexible</a:t>
            </a:r>
          </a:p>
          <a:p>
            <a:pPr marL="342900" lvl="0" indent="-342900" algn="l" defTabSz="915988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Dépendant des importations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2050" name="Picture 2" descr="Chauffage gaz ou électrique : le comparatif pour choisir">
            <a:extLst>
              <a:ext uri="{FF2B5EF4-FFF2-40B4-BE49-F238E27FC236}">
                <a16:creationId xmlns:a16="http://schemas.microsoft.com/office/drawing/2014/main" id="{07847B18-9A6B-BBBB-BDD1-B69361E5A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861" y="1704656"/>
            <a:ext cx="6897374" cy="344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1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B511-6AAA-2E62-0C82-E456456D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F141A-FA5D-DF7E-B9AA-AB4A71E68F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4695" y="1504334"/>
            <a:ext cx="4360230" cy="3921908"/>
          </a:xfrm>
        </p:spPr>
        <p:txBody>
          <a:bodyPr/>
          <a:lstStyle/>
          <a:p>
            <a:pPr algn="l" eaLnBrk="0" fontAlgn="base" hangingPunct="0">
              <a:spcBef>
                <a:spcPct val="0"/>
              </a:spcBef>
            </a:pPr>
            <a:r>
              <a:rPr lang="fr-FR" sz="2000" dirty="0"/>
              <a:t>Les prix de l’énergie évoluent en fonction de nombreux facteurs externes, souvent difficiles à anticiper, qui influencent directement l’équilibre du marché comme : 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Conditions météorologiques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Disponibilité des moyens production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Prix des matières premières</a:t>
            </a:r>
          </a:p>
          <a:p>
            <a:pPr marL="342900" indent="-342900" algn="l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Contexte géopolitique</a:t>
            </a:r>
            <a:br>
              <a:rPr lang="fr-FR" sz="2000" dirty="0"/>
            </a:br>
            <a:r>
              <a:rPr lang="fr-FR" sz="2000" dirty="0"/>
              <a:t>Évolution de la demande</a:t>
            </a:r>
            <a:endParaRPr lang="fr-FR" altLang="fr-FR" sz="2000" b="0" dirty="0">
              <a:solidFill>
                <a:srgbClr val="56436A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EF22A1-773B-56D0-5904-DF101ECA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DCE9B-6F7F-33A3-962E-A46590229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40467E0-7CE2-09EE-BC04-A154A6A1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Origine de la volatilité des prix</a:t>
            </a:r>
          </a:p>
        </p:txBody>
      </p:sp>
      <p:pic>
        <p:nvPicPr>
          <p:cNvPr id="3074" name="Picture 2" descr="Marché de l'électricité - La Banque Postale">
            <a:extLst>
              <a:ext uri="{FF2B5EF4-FFF2-40B4-BE49-F238E27FC236}">
                <a16:creationId xmlns:a16="http://schemas.microsoft.com/office/drawing/2014/main" id="{A137EB6E-49E6-70BB-B9F0-697B21D55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59" y="1349549"/>
            <a:ext cx="7254725" cy="4625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4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B3D3C079-46C6-6A32-C8E6-9AF521840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3C2545-87A3-A6AD-E8E3-A38F427B09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0AD3F7-513B-E7D9-15B1-F51781AD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CB06BD3-1DD7-4555-F358-44FF0CF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703" y="235171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accent6">
                    <a:lumMod val="75000"/>
                  </a:schemeClr>
                </a:solidFill>
              </a:rPr>
              <a:t>Notion de risque énergétique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BDC4ED-25D8-6702-C8DD-A5DCC788FF31}"/>
              </a:ext>
            </a:extLst>
          </p:cNvPr>
          <p:cNvSpPr txBox="1"/>
          <p:nvPr/>
        </p:nvSpPr>
        <p:spPr>
          <a:xfrm>
            <a:off x="6478641" y="2361923"/>
            <a:ext cx="3429000" cy="1853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Incertitude sur le coût futur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Risque prix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Risque volume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Risque contractuel</a:t>
            </a:r>
            <a:endParaRPr kumimoji="0" lang="fr-FR" sz="2000" b="0" i="0" u="none" strike="noStrike" cap="none" normalizeH="0" baseline="0" noProof="0" dirty="0">
              <a:ln>
                <a:noFill/>
              </a:ln>
              <a:effectLst/>
            </a:endParaRPr>
          </a:p>
        </p:txBody>
      </p:sp>
      <p:pic>
        <p:nvPicPr>
          <p:cNvPr id="4098" name="Picture 2" descr="Quels risques pour les marchés en 2023 selon l'AMF ? - La finance pour tous">
            <a:extLst>
              <a:ext uri="{FF2B5EF4-FFF2-40B4-BE49-F238E27FC236}">
                <a16:creationId xmlns:a16="http://schemas.microsoft.com/office/drawing/2014/main" id="{AD745E1D-FC29-7EE6-138E-E99838876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7" y="1787054"/>
            <a:ext cx="6075563" cy="343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pour les entreprises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602" y="1850170"/>
            <a:ext cx="5214577" cy="4566550"/>
          </a:xfrm>
        </p:spPr>
        <p:txBody>
          <a:bodyPr/>
          <a:lstStyle/>
          <a:p>
            <a:pPr lvl="0" fontAlgn="base">
              <a:lnSpc>
                <a:spcPct val="90000"/>
              </a:lnSpc>
              <a:spcBef>
                <a:spcPct val="0"/>
              </a:spcBef>
            </a:pPr>
            <a:r>
              <a:rPr lang="fr-FR" sz="2800" dirty="0"/>
              <a:t>Le risque énergétique correspond à l’incertitude liée à l’achat d’énergie et aux conditions dans lesquelles celle-ci est consommée.</a:t>
            </a:r>
          </a:p>
          <a:p>
            <a:pPr lvl="0" fontAlgn="base">
              <a:lnSpc>
                <a:spcPct val="90000"/>
              </a:lnSpc>
              <a:spcBef>
                <a:spcPct val="0"/>
              </a:spcBef>
            </a:pPr>
            <a:endParaRPr lang="fr-FR" sz="2800" b="0" dirty="0">
              <a:solidFill>
                <a:srgbClr val="56436A"/>
              </a:solidFill>
            </a:endParaRP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Incertitude sur le coût futur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Risque prix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Risque volume</a:t>
            </a:r>
          </a:p>
          <a:p>
            <a:pPr marL="457200" lvl="0" indent="-457200" algn="l" fontAlgn="base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800" dirty="0"/>
              <a:t>Risque contractuel</a:t>
            </a:r>
            <a:endParaRPr lang="fr-FR" sz="2800" b="0" dirty="0">
              <a:solidFill>
                <a:srgbClr val="56436A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5122" name="Picture 2" descr="Pourquoi PowerPoint est l'outil le plus sous-côté en entreprise ? - Les  Edito de J'❤️ les startups">
            <a:extLst>
              <a:ext uri="{FF2B5EF4-FFF2-40B4-BE49-F238E27FC236}">
                <a16:creationId xmlns:a16="http://schemas.microsoft.com/office/drawing/2014/main" id="{338D5810-08CD-A7C6-092F-B072B1E9E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54" y="1388258"/>
            <a:ext cx="6409646" cy="426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38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B040-AA54-131F-CF9B-6ED6447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363" y="355157"/>
            <a:ext cx="7708359" cy="2026947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fr-FR" sz="5400" dirty="0"/>
              <a:t>Types de contrats d’achat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77BF-500C-33BE-25F1-FFA5837CB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EC8ACF-80D5-937D-C247-5115E1A9D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899462"/>
            <a:ext cx="3098058" cy="26952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</a:pPr>
            <a:endParaRPr lang="fr-FR" sz="2000" dirty="0"/>
          </a:p>
          <a:p>
            <a:pPr eaLnBrk="0" fontAlgn="base" hangingPunct="0">
              <a:spcBef>
                <a:spcPct val="0"/>
              </a:spcBef>
            </a:pPr>
            <a:r>
              <a:rPr lang="fr-FR" sz="2000" dirty="0"/>
              <a:t>Les types de contrats : 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Contrat à prix fixe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Contrat à prix indexé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2000" dirty="0"/>
              <a:t>Contrat mixte</a:t>
            </a:r>
            <a:endParaRPr lang="fr-FR" altLang="fr-FR" sz="2000" dirty="0">
              <a:latin typeface="Arial" panose="020B0604020202020204" pitchFamily="34" charset="0"/>
            </a:endParaRPr>
          </a:p>
        </p:txBody>
      </p:sp>
      <p:pic>
        <p:nvPicPr>
          <p:cNvPr id="7" name="Image 6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DE8CD45-76C5-7978-C32F-955287907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45" y="1549512"/>
            <a:ext cx="5421309" cy="340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C2989E1-AABC-0D12-63D7-AB2E529B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52" y="43615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accent6">
                    <a:lumMod val="75000"/>
                  </a:schemeClr>
                </a:solidFill>
              </a:rPr>
              <a:t>Stratégies d’achat de l’énergie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C53741F-200B-0CAE-BE64-DA56E1814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6FA69D2-944A-9BD8-2AE6-B5676BBC2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0564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7DD358-5D96-F44E-F49D-E092521B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A7EF65-CEF3-D361-A4AB-4567927395EE}"/>
              </a:ext>
            </a:extLst>
          </p:cNvPr>
          <p:cNvSpPr txBox="1"/>
          <p:nvPr/>
        </p:nvSpPr>
        <p:spPr>
          <a:xfrm>
            <a:off x="426038" y="1145951"/>
            <a:ext cx="55341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Stratégie sécurisée</a:t>
            </a:r>
          </a:p>
          <a:p>
            <a:r>
              <a:rPr lang="fr-FR" dirty="0"/>
              <a:t>Cette stratégie consiste à sécuriser le prix de l’énergie afin de garantir une bonne visibilité budgétaire et de limiter le risque de hausse des prix.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Stratégie opportuniste</a:t>
            </a:r>
          </a:p>
          <a:p>
            <a:r>
              <a:rPr lang="fr-FR" dirty="0"/>
              <a:t>Cette stratégie vise à suivre l’évolution du marché afin de profiter d’éventuelles baisses de prix, au prix d’une exposition plus forte au risque.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Stratégie mixte</a:t>
            </a:r>
          </a:p>
          <a:p>
            <a:r>
              <a:rPr lang="fr-FR" dirty="0"/>
              <a:t>Cette stratégie combine une part d’énergie sécurisée et une part exposée au marché afin de trouver un équilibre entre sécurité et flexibilité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Lissage des achats dans le temps</a:t>
            </a:r>
          </a:p>
          <a:p>
            <a:r>
              <a:rPr lang="fr-FR" dirty="0"/>
              <a:t>Cette approche consiste à répartir les achats d’énergie sur différentes périodes afin de réduire l’impact des variations de prix.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noProof="0" dirty="0"/>
          </a:p>
        </p:txBody>
      </p:sp>
      <p:pic>
        <p:nvPicPr>
          <p:cNvPr id="6146" name="Picture 2" descr="Stratégie E-Commerce : les 3 étapes clés">
            <a:extLst>
              <a:ext uri="{FF2B5EF4-FFF2-40B4-BE49-F238E27FC236}">
                <a16:creationId xmlns:a16="http://schemas.microsoft.com/office/drawing/2014/main" id="{2D721253-6295-601F-9DDD-5B8FBE1F6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862" y="2167747"/>
            <a:ext cx="3867652" cy="232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80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1939E0A-3796-5218-1D39-5F24FC41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186" y="0"/>
            <a:ext cx="6940790" cy="2875237"/>
          </a:xfrm>
        </p:spPr>
        <p:txBody>
          <a:bodyPr/>
          <a:lstStyle/>
          <a:p>
            <a:r>
              <a:rPr lang="fr-FR" dirty="0"/>
              <a:t>Gestion et maîtrise du risque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45D02B-8CB1-947A-CBB1-327049B07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03DB441-84CF-2AA5-CB9F-6C264A6A11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684F2C1-B486-F8BF-1A3E-336D4C66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6AA3EFD-70D6-384B-BE20-46DA76C37113}"/>
              </a:ext>
            </a:extLst>
          </p:cNvPr>
          <p:cNvSpPr txBox="1"/>
          <p:nvPr/>
        </p:nvSpPr>
        <p:spPr>
          <a:xfrm>
            <a:off x="356937" y="1264084"/>
            <a:ext cx="631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La gestion du risque repose sur une démarche continue qui permet d’adapter la stratégie d’achat aux évolutions du marché et aux besoins réels du consommateur.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Anticipation des besoins énergétiques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Veille des marchés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Suivi des consommations réelles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Ajustement de la stratégie d’achat</a:t>
            </a:r>
          </a:p>
        </p:txBody>
      </p:sp>
      <p:pic>
        <p:nvPicPr>
          <p:cNvPr id="7172" name="Picture 4" descr="5 étapes de la méthodologie de gestion des risques">
            <a:extLst>
              <a:ext uri="{FF2B5EF4-FFF2-40B4-BE49-F238E27FC236}">
                <a16:creationId xmlns:a16="http://schemas.microsoft.com/office/drawing/2014/main" id="{0FC69C42-613E-3EC6-7B42-295559E9839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" r="5867"/>
          <a:stretch>
            <a:fillRect/>
          </a:stretch>
        </p:blipFill>
        <p:spPr bwMode="auto">
          <a:xfrm>
            <a:off x="4036979" y="2598821"/>
            <a:ext cx="4660932" cy="351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75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98BE-DB4F-6AA5-6257-FE62B47E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0C5A-E23A-3335-3E26-E6346D07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concret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A074BE3-8F4B-FA8A-5E5D-1403E52920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9594C56F-4452-A595-612D-1308227D2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984" y="1629596"/>
            <a:ext cx="4242816" cy="4251145"/>
          </a:xfrm>
        </p:spPr>
        <p:txBody>
          <a:bodyPr>
            <a:normAutofit/>
          </a:bodyPr>
          <a:lstStyle/>
          <a:p>
            <a:pPr marL="0" indent="0" algn="l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fr-FR" sz="2000" b="0" dirty="0"/>
              <a:t>Cet exemple permet d’illustrer concrètement comment une entreprise applique une stratégie d’achat d’énergie en fonction de son profil de consommation et du contexte de marché.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fr-FR" sz="2000" b="0" dirty="0"/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fr-FR" sz="2000" b="0" dirty="0"/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Entreprise industrielle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Consommation électricité + gaz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Choix du type de contrat</a:t>
            </a: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fr-FR" sz="2000" b="0" dirty="0"/>
              <a:t>Objectif : limiter le risque</a:t>
            </a:r>
            <a:endParaRPr lang="fr-FR" altLang="fr-FR" sz="2000" b="0" dirty="0">
              <a:solidFill>
                <a:srgbClr val="56436A"/>
              </a:solidFill>
              <a:latin typeface="Arial" panose="020B060402020202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C30C85-D8C1-05BC-F87B-9F9AAAAF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8196" name="Picture 4" descr="Exemple concret du Processus de Travail: Découvrez notre guide complet! · [  2026 ]">
            <a:extLst>
              <a:ext uri="{FF2B5EF4-FFF2-40B4-BE49-F238E27FC236}">
                <a16:creationId xmlns:a16="http://schemas.microsoft.com/office/drawing/2014/main" id="{1B656565-4133-9F29-E98C-F20650F9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30172"/>
            <a:ext cx="658177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2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B5D3647A-3E0D-E211-B051-5E15A5AE6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38F06C-5A5A-3675-276B-347E372F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379" y="321461"/>
            <a:ext cx="8459343" cy="2875237"/>
          </a:xfrm>
        </p:spPr>
        <p:txBody>
          <a:bodyPr/>
          <a:lstStyle/>
          <a:p>
            <a:r>
              <a:rPr lang="fr-FR" sz="5400" dirty="0"/>
              <a:t>Synthèse du cours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88611ED-7691-B086-C0D7-9AC4170A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F882185-6712-7B7D-C651-62EED4D458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10BD49-CA60-0DA4-0F91-AE5D73021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80E280B-57E9-C6A3-2BFB-8AD9D4AC9141}"/>
              </a:ext>
            </a:extLst>
          </p:cNvPr>
          <p:cNvSpPr/>
          <p:nvPr/>
        </p:nvSpPr>
        <p:spPr>
          <a:xfrm>
            <a:off x="1507089" y="1212220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1" name="Rectangle 30" descr="Coche">
            <a:extLst>
              <a:ext uri="{FF2B5EF4-FFF2-40B4-BE49-F238E27FC236}">
                <a16:creationId xmlns:a16="http://schemas.microsoft.com/office/drawing/2014/main" id="{F253E144-CAE4-0936-6090-66E8267B5434}"/>
              </a:ext>
            </a:extLst>
          </p:cNvPr>
          <p:cNvSpPr/>
          <p:nvPr/>
        </p:nvSpPr>
        <p:spPr>
          <a:xfrm>
            <a:off x="1857941" y="1473185"/>
            <a:ext cx="637913" cy="637913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18F675B-E1BC-9944-0DF6-9452204E5963}"/>
              </a:ext>
            </a:extLst>
          </p:cNvPr>
          <p:cNvGrpSpPr/>
          <p:nvPr/>
        </p:nvGrpSpPr>
        <p:grpSpPr>
          <a:xfrm>
            <a:off x="2846707" y="1212220"/>
            <a:ext cx="5024605" cy="1159843"/>
            <a:chOff x="1339618" y="2288"/>
            <a:chExt cx="5024605" cy="115984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D36455-0DFD-F88E-5D57-E8548E176582}"/>
                </a:ext>
              </a:extLst>
            </p:cNvPr>
            <p:cNvSpPr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0F676B3-5EA2-B4CA-83CE-D4C75ACDBD5F}"/>
                </a:ext>
              </a:extLst>
            </p:cNvPr>
            <p:cNvSpPr txBox="1"/>
            <p:nvPr/>
          </p:nvSpPr>
          <p:spPr>
            <a:xfrm>
              <a:off x="1339618" y="2288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Acheter de l’énergie = décider</a:t>
              </a:r>
              <a:endParaRPr lang="en-US" sz="2200" kern="1200" dirty="0"/>
            </a:p>
          </p:txBody>
        </p:sp>
      </p:grp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99FD09D-7FEF-D5F3-7A5B-A0AA2338D973}"/>
              </a:ext>
            </a:extLst>
          </p:cNvPr>
          <p:cNvSpPr/>
          <p:nvPr/>
        </p:nvSpPr>
        <p:spPr>
          <a:xfrm>
            <a:off x="1507089" y="2662024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4" name="Rectangle 33" descr="Pièces">
            <a:extLst>
              <a:ext uri="{FF2B5EF4-FFF2-40B4-BE49-F238E27FC236}">
                <a16:creationId xmlns:a16="http://schemas.microsoft.com/office/drawing/2014/main" id="{88E5EF2E-D34D-B236-1051-AD99A3347B33}"/>
              </a:ext>
            </a:extLst>
          </p:cNvPr>
          <p:cNvSpPr/>
          <p:nvPr/>
        </p:nvSpPr>
        <p:spPr>
          <a:xfrm>
            <a:off x="1857941" y="2922989"/>
            <a:ext cx="637913" cy="637913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3824F7F-84DF-1C37-F3D7-3DBBCF17ABA0}"/>
              </a:ext>
            </a:extLst>
          </p:cNvPr>
          <p:cNvGrpSpPr/>
          <p:nvPr/>
        </p:nvGrpSpPr>
        <p:grpSpPr>
          <a:xfrm>
            <a:off x="2846707" y="2662024"/>
            <a:ext cx="5024605" cy="1159843"/>
            <a:chOff x="1339618" y="1452092"/>
            <a:chExt cx="5024605" cy="115984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49C5F9-DB00-2253-E7BC-977008287B18}"/>
                </a:ext>
              </a:extLst>
            </p:cNvPr>
            <p:cNvSpPr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9A4A389-C04F-9E38-9A74-28003DD86087}"/>
                </a:ext>
              </a:extLst>
            </p:cNvPr>
            <p:cNvSpPr txBox="1"/>
            <p:nvPr/>
          </p:nvSpPr>
          <p:spPr>
            <a:xfrm>
              <a:off x="1339618" y="1452092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Le risque fait partie du marché</a:t>
              </a:r>
              <a:endParaRPr lang="en-US" sz="2200" kern="1200" dirty="0"/>
            </a:p>
          </p:txBody>
        </p:sp>
      </p:grp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D9728C7-FF5A-5574-5D1B-D03EB443D7DF}"/>
              </a:ext>
            </a:extLst>
          </p:cNvPr>
          <p:cNvSpPr/>
          <p:nvPr/>
        </p:nvSpPr>
        <p:spPr>
          <a:xfrm>
            <a:off x="1507089" y="4111828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37" name="Rectangle 36" descr="Camion">
            <a:extLst>
              <a:ext uri="{FF2B5EF4-FFF2-40B4-BE49-F238E27FC236}">
                <a16:creationId xmlns:a16="http://schemas.microsoft.com/office/drawing/2014/main" id="{36B53E18-362C-6560-04E8-72F4F3655B66}"/>
              </a:ext>
            </a:extLst>
          </p:cNvPr>
          <p:cNvSpPr/>
          <p:nvPr/>
        </p:nvSpPr>
        <p:spPr>
          <a:xfrm>
            <a:off x="1857941" y="4372793"/>
            <a:ext cx="637913" cy="637913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9FDF254-5380-F9C7-900D-F3A615182707}"/>
              </a:ext>
            </a:extLst>
          </p:cNvPr>
          <p:cNvGrpSpPr/>
          <p:nvPr/>
        </p:nvGrpSpPr>
        <p:grpSpPr>
          <a:xfrm>
            <a:off x="2846707" y="4196602"/>
            <a:ext cx="5024605" cy="1159843"/>
            <a:chOff x="1339618" y="2901896"/>
            <a:chExt cx="5024605" cy="115984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C297DB1-B599-6CE9-33EB-38E447FD0DE6}"/>
                </a:ext>
              </a:extLst>
            </p:cNvPr>
            <p:cNvSpPr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073CCE56-0276-E8EC-CA2F-B654D73A61D9}"/>
                </a:ext>
              </a:extLst>
            </p:cNvPr>
            <p:cNvSpPr txBox="1"/>
            <p:nvPr/>
          </p:nvSpPr>
          <p:spPr>
            <a:xfrm>
              <a:off x="1339618" y="2901896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Il doit être compris et maîtrisé</a:t>
              </a:r>
              <a:endParaRPr lang="en-US" sz="2200" kern="1200" dirty="0"/>
            </a:p>
          </p:txBody>
        </p:sp>
      </p:grp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D5E7090-EA94-5679-78BC-1ADE540D456A}"/>
              </a:ext>
            </a:extLst>
          </p:cNvPr>
          <p:cNvSpPr/>
          <p:nvPr/>
        </p:nvSpPr>
        <p:spPr>
          <a:xfrm>
            <a:off x="1507089" y="5561632"/>
            <a:ext cx="6364224" cy="1159843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40" name="Rectangle 39" descr="Voiture">
            <a:extLst>
              <a:ext uri="{FF2B5EF4-FFF2-40B4-BE49-F238E27FC236}">
                <a16:creationId xmlns:a16="http://schemas.microsoft.com/office/drawing/2014/main" id="{4560BCB2-958D-9C2D-7F53-F0F429114FE9}"/>
              </a:ext>
            </a:extLst>
          </p:cNvPr>
          <p:cNvSpPr/>
          <p:nvPr/>
        </p:nvSpPr>
        <p:spPr>
          <a:xfrm>
            <a:off x="1857941" y="5822597"/>
            <a:ext cx="637913" cy="637913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5103A958-8D7E-822D-0020-2939AB6071FA}"/>
              </a:ext>
            </a:extLst>
          </p:cNvPr>
          <p:cNvGrpSpPr/>
          <p:nvPr/>
        </p:nvGrpSpPr>
        <p:grpSpPr>
          <a:xfrm>
            <a:off x="2846707" y="5476858"/>
            <a:ext cx="5127844" cy="1244617"/>
            <a:chOff x="1339618" y="4266926"/>
            <a:chExt cx="5127844" cy="124461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A37033B-0A44-4CAC-3DE3-FE738A81C22E}"/>
                </a:ext>
              </a:extLst>
            </p:cNvPr>
            <p:cNvSpPr/>
            <p:nvPr/>
          </p:nvSpPr>
          <p:spPr>
            <a:xfrm>
              <a:off x="1339618" y="4351700"/>
              <a:ext cx="5024605" cy="115984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D45D37C-3F3E-826E-DFA4-D99C00A802AE}"/>
                </a:ext>
              </a:extLst>
            </p:cNvPr>
            <p:cNvSpPr txBox="1"/>
            <p:nvPr/>
          </p:nvSpPr>
          <p:spPr>
            <a:xfrm>
              <a:off x="1442857" y="4266926"/>
              <a:ext cx="5024605" cy="11598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750" tIns="122750" rIns="122750" bIns="122750" numCol="1" spcCol="1270" anchor="ctr" anchorCtr="0">
              <a:noAutofit/>
            </a:bodyPr>
            <a:lstStyle/>
            <a:p>
              <a:pPr lvl="0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dirty="0"/>
                <a:t>La stratégie dépend du profil</a:t>
              </a:r>
              <a:endParaRPr lang="en-US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8238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B7C9201-7F50-1E56-62B2-AD90D8ED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35" y="1328932"/>
            <a:ext cx="11194929" cy="46465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7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Une entreprise industrielle consomme 2 000 MWh/an d’électricité et 1 500 MWh/an de gaz.</a:t>
            </a:r>
            <a:br>
              <a:rPr lang="fr-FR" dirty="0"/>
            </a:br>
            <a:r>
              <a:rPr lang="fr-FR" dirty="0"/>
              <a:t>Les marchés de l’énergie sont volatils et la consommation peut varier de ± 10 % selon l’activité.</a:t>
            </a:r>
          </a:p>
          <a:p>
            <a:r>
              <a:rPr lang="fr-FR" dirty="0"/>
              <a:t>Deux offres sont proposées par un fournisseur :</a:t>
            </a:r>
          </a:p>
          <a:p>
            <a:pPr lvl="0"/>
            <a:r>
              <a:rPr lang="fr-FR" dirty="0"/>
              <a:t>Contrat à prix fixe (3 ans)</a:t>
            </a:r>
          </a:p>
          <a:p>
            <a:pPr lvl="1"/>
            <a:r>
              <a:rPr lang="fr-FR" sz="1800" dirty="0"/>
              <a:t>Électricité : 120 €/MWh</a:t>
            </a:r>
          </a:p>
          <a:p>
            <a:pPr lvl="1"/>
            <a:r>
              <a:rPr lang="fr-FR" sz="1800" dirty="0"/>
              <a:t>Gaz : 50 €/MWh</a:t>
            </a:r>
          </a:p>
          <a:p>
            <a:pPr lvl="0"/>
            <a:r>
              <a:rPr lang="fr-FR" dirty="0"/>
              <a:t>Contrat à prix indexé</a:t>
            </a:r>
          </a:p>
          <a:p>
            <a:pPr lvl="1"/>
            <a:r>
              <a:rPr lang="fr-FR" sz="1800" dirty="0"/>
              <a:t>Prix de l’électricité et du gaz indexés sur les marchés</a:t>
            </a:r>
          </a:p>
          <a:p>
            <a:r>
              <a:rPr lang="fr-FR" dirty="0"/>
              <a:t> </a:t>
            </a:r>
          </a:p>
          <a:p>
            <a:r>
              <a:rPr lang="fr-FR" dirty="0"/>
              <a:t>Travail demandé :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Identifier les principaux risques auxquels l’entreprise est exposée.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Comparer les contrats à prix fixe et à prix indexé en termes de risque et de visibilité budgétaire.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Proposer une stratégie d’achat adaptée pour l’électricité et le gaz.</a:t>
            </a:r>
          </a:p>
          <a:p>
            <a:pPr marL="342900" lvl="0" indent="-342900">
              <a:buFont typeface="+mj-lt"/>
              <a:buAutoNum type="arabicPeriod"/>
            </a:pPr>
            <a:r>
              <a:rPr lang="fr-FR" dirty="0"/>
              <a:t>Justifier la stratégie choisie.</a:t>
            </a:r>
          </a:p>
        </p:txBody>
      </p:sp>
    </p:spTree>
    <p:extLst>
      <p:ext uri="{BB962C8B-B14F-4D97-AF65-F5344CB8AC3E}">
        <p14:creationId xmlns:p14="http://schemas.microsoft.com/office/powerpoint/2010/main" val="45363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031678-73AD-0FFB-DC37-5BE8FDFD3CC9}"/>
              </a:ext>
            </a:extLst>
          </p:cNvPr>
          <p:cNvSpPr txBox="1"/>
          <p:nvPr/>
        </p:nvSpPr>
        <p:spPr>
          <a:xfrm>
            <a:off x="523765" y="1783571"/>
            <a:ext cx="8680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1 : Identifier les principaux risques</a:t>
            </a:r>
          </a:p>
          <a:p>
            <a:r>
              <a:rPr lang="fr-FR" dirty="0"/>
              <a:t>L’entreprise est exposée à plusieurs risques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Risque prix : les prix de l’électricité et du gaz peuvent fortement augmenter sur les marchés, ce qui impacterait directement le budget énergétique.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Risque volume : la consommation réelle peut être différente de la consommation prévue (± 10 %), notamment en fonction du niveau d’activité.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Risque contractuel : un contrat mal adapté peut limiter la flexibilité ou entraîner des pénalités.</a:t>
            </a:r>
          </a:p>
        </p:txBody>
      </p:sp>
    </p:spTree>
    <p:extLst>
      <p:ext uri="{BB962C8B-B14F-4D97-AF65-F5344CB8AC3E}">
        <p14:creationId xmlns:p14="http://schemas.microsoft.com/office/powerpoint/2010/main" val="182547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7D33-DF34-BDF9-9DBE-A33E4201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6966C9-F402-F97E-97A9-EC1C0367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473B650-885A-B8AF-706A-D4A3E16F00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816672-B38A-B163-0D01-16626473C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DAF809-47E4-4B89-DAAE-248328E9F29A}"/>
              </a:ext>
            </a:extLst>
          </p:cNvPr>
          <p:cNvSpPr txBox="1"/>
          <p:nvPr/>
        </p:nvSpPr>
        <p:spPr>
          <a:xfrm>
            <a:off x="523765" y="1783571"/>
            <a:ext cx="86803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2 : Comparer les contrats à prix fixe et à prix indexé</a:t>
            </a:r>
          </a:p>
          <a:p>
            <a:r>
              <a:rPr lang="fr-FR" dirty="0"/>
              <a:t>Le contrat à prix fixe offre une bonne visibilité budgétaire et protège contre une hausse des prix, mais ne permet pas de bénéficier d’une baisse des prix de marché.</a:t>
            </a:r>
          </a:p>
          <a:p>
            <a:r>
              <a:rPr lang="fr-FR" dirty="0"/>
              <a:t>Le contrat à prix indexé permet de profiter d’une baisse des prix, mais expose fortement l’entreprise à la volatilité des marchés et réduit la visibilité budgétaire.</a:t>
            </a:r>
          </a:p>
        </p:txBody>
      </p:sp>
    </p:spTree>
    <p:extLst>
      <p:ext uri="{BB962C8B-B14F-4D97-AF65-F5344CB8AC3E}">
        <p14:creationId xmlns:p14="http://schemas.microsoft.com/office/powerpoint/2010/main" val="39373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ABD6-B201-AF16-4D2A-D1AC03EA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4210B-2D2A-C429-498B-7C37384C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958992-E355-16DC-4E58-9F3F18D100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E986DC-B82D-DB23-ACC2-DF1D15140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6DA7F5-1C48-1FE5-B807-6F0AEF4F9BE4}"/>
              </a:ext>
            </a:extLst>
          </p:cNvPr>
          <p:cNvSpPr txBox="1"/>
          <p:nvPr/>
        </p:nvSpPr>
        <p:spPr>
          <a:xfrm>
            <a:off x="523765" y="1783571"/>
            <a:ext cx="8680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3 : Proposer une stratégie d’achat adaptée</a:t>
            </a:r>
          </a:p>
          <a:p>
            <a:r>
              <a:rPr lang="fr-FR" dirty="0"/>
              <a:t>Une stratégie mixte est la plus pertinente.</a:t>
            </a:r>
            <a:br>
              <a:rPr lang="fr-FR" dirty="0"/>
            </a:br>
            <a:r>
              <a:rPr lang="fr-FR" dirty="0"/>
              <a:t>Elle consiste à sécuriser une partie des volumes d’électricité et de gaz à prix fixe et à laisser le reste indexé sur le marché.</a:t>
            </a:r>
          </a:p>
        </p:txBody>
      </p:sp>
    </p:spTree>
    <p:extLst>
      <p:ext uri="{BB962C8B-B14F-4D97-AF65-F5344CB8AC3E}">
        <p14:creationId xmlns:p14="http://schemas.microsoft.com/office/powerpoint/2010/main" val="4972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FCC9-0FAD-B89A-DF76-0E3805CC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C9698-33F4-175D-9C2A-A18397E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92D2EEA-EA54-BA8C-9606-4847A49E74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68198-CC9D-6DAE-4D6D-5E43C5A8F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CA1D18-E0E8-DAF9-BFF2-5D5A99C663DC}"/>
              </a:ext>
            </a:extLst>
          </p:cNvPr>
          <p:cNvSpPr txBox="1"/>
          <p:nvPr/>
        </p:nvSpPr>
        <p:spPr>
          <a:xfrm>
            <a:off x="523765" y="1783571"/>
            <a:ext cx="8680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Question 4 : Justifier la stratégie choisie</a:t>
            </a:r>
          </a:p>
          <a:p>
            <a:r>
              <a:rPr lang="fr-FR" dirty="0"/>
              <a:t>La stratégie mixte permet de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Limiter l’impact d’une hausse brutale des prix,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Conserver une certaine flexibilité,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Prendre en compte l’incertitude sur les volumes consommés,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/>
              <a:t>S’adapter à un contexte de marchés volatils.</a:t>
            </a:r>
          </a:p>
          <a:p>
            <a:r>
              <a:rPr lang="fr-FR" dirty="0"/>
              <a:t>Elle représente un bon compromis entre sécurité et opportunité pour une entreprise industrielle.</a:t>
            </a:r>
          </a:p>
        </p:txBody>
      </p:sp>
    </p:spTree>
    <p:extLst>
      <p:ext uri="{BB962C8B-B14F-4D97-AF65-F5344CB8AC3E}">
        <p14:creationId xmlns:p14="http://schemas.microsoft.com/office/powerpoint/2010/main" val="134764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4E0A-EBA8-F1FB-4DDA-387ADE08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DE46B-5711-77D3-9111-79E02F11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libri"/>
                <a:ea typeface="Calibri"/>
                <a:cs typeface="Calibri"/>
              </a:rPr>
              <a:t>QCM</a:t>
            </a:r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0A94415-6FBA-F60D-E582-751EB12C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8C06828-7016-CA91-1900-9B24ED0DE0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990" y="1720516"/>
            <a:ext cx="5943348" cy="4122653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fr-FR" dirty="0"/>
              <a:t>1. Quel est l’objectif principal d’une stratégie d’achat d’énergie ?</a:t>
            </a:r>
          </a:p>
          <a:p>
            <a:pPr algn="l"/>
            <a:r>
              <a:rPr lang="fr-FR" dirty="0"/>
              <a:t>A. Acheter l’énergie au prix le plus bas possible à court terme</a:t>
            </a:r>
            <a:br>
              <a:rPr lang="fr-FR" dirty="0"/>
            </a:br>
            <a:r>
              <a:rPr lang="fr-FR" dirty="0"/>
              <a:t>B. Supprimer totalement le risque</a:t>
            </a:r>
            <a:br>
              <a:rPr lang="fr-FR" dirty="0"/>
            </a:br>
            <a:r>
              <a:rPr lang="fr-FR" dirty="0"/>
              <a:t>C. Trouver un équilibre entre coût, visibilité et risque</a:t>
            </a:r>
            <a:br>
              <a:rPr lang="fr-FR" dirty="0"/>
            </a:br>
            <a:r>
              <a:rPr lang="fr-FR" dirty="0"/>
              <a:t>D. Acheter uniquement de l’énergie renouvelable</a:t>
            </a:r>
          </a:p>
          <a:p>
            <a:pPr algn="l"/>
            <a:r>
              <a:rPr lang="fr-FR" dirty="0"/>
              <a:t> </a:t>
            </a:r>
          </a:p>
          <a:p>
            <a:pPr algn="l"/>
            <a:r>
              <a:rPr lang="fr-FR" dirty="0"/>
              <a:t>2. Pourquoi le marché de l’électricité est-il plus volatil que celui du gaz ?</a:t>
            </a:r>
          </a:p>
          <a:p>
            <a:pPr algn="l"/>
            <a:r>
              <a:rPr lang="fr-FR" dirty="0"/>
              <a:t>A. Le gaz est plus cher que l’électricité</a:t>
            </a:r>
            <a:br>
              <a:rPr lang="fr-FR" dirty="0"/>
            </a:br>
            <a:r>
              <a:rPr lang="fr-FR" dirty="0"/>
              <a:t>B. L’électricité ne peut pas être stockée facilement</a:t>
            </a:r>
            <a:br>
              <a:rPr lang="fr-FR" dirty="0"/>
            </a:br>
            <a:r>
              <a:rPr lang="fr-FR" dirty="0"/>
              <a:t>C. Le gaz est uniquement consommé en hiver</a:t>
            </a:r>
            <a:br>
              <a:rPr lang="fr-FR" dirty="0"/>
            </a:br>
            <a:r>
              <a:rPr lang="fr-FR" dirty="0"/>
              <a:t>D. L’électricité est toujours produite localement</a:t>
            </a:r>
          </a:p>
          <a:p>
            <a:pPr algn="l"/>
            <a:r>
              <a:rPr lang="fr-FR" dirty="0"/>
              <a:t> </a:t>
            </a:r>
          </a:p>
          <a:p>
            <a:pPr algn="l"/>
            <a:r>
              <a:rPr lang="fr-FR" dirty="0"/>
              <a:t>3. Qu’appelle-t-on le risque prix ?</a:t>
            </a:r>
          </a:p>
          <a:p>
            <a:pPr algn="l"/>
            <a:r>
              <a:rPr lang="fr-FR" dirty="0"/>
              <a:t>A. Le risque de panne du réseau</a:t>
            </a:r>
            <a:br>
              <a:rPr lang="fr-FR" dirty="0"/>
            </a:br>
            <a:r>
              <a:rPr lang="fr-FR" dirty="0"/>
              <a:t>B. Le risque lié à l’évolution future des prix de l’énergie</a:t>
            </a:r>
            <a:br>
              <a:rPr lang="fr-FR" dirty="0"/>
            </a:br>
            <a:r>
              <a:rPr lang="fr-FR" dirty="0"/>
              <a:t>C. Le risque de surconsommation</a:t>
            </a:r>
            <a:br>
              <a:rPr lang="fr-FR" dirty="0"/>
            </a:br>
            <a:r>
              <a:rPr lang="fr-FR" dirty="0"/>
              <a:t>D. Le risque d’erreur de facturation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sym typeface="Wingdings" panose="05000000000000000000" pitchFamily="2" charset="2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7A829B-0531-149F-B834-99D9969A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31783-EFB3-4BE3-5BAE-6A0EA551E654}"/>
              </a:ext>
            </a:extLst>
          </p:cNvPr>
          <p:cNvSpPr/>
          <p:nvPr/>
        </p:nvSpPr>
        <p:spPr>
          <a:xfrm>
            <a:off x="7736304" y="-144379"/>
            <a:ext cx="4824665" cy="71467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218" name="Picture 2" descr="Comment réussir les QCM - Potion de Vie / Jean-Yves Ponce">
            <a:extLst>
              <a:ext uri="{FF2B5EF4-FFF2-40B4-BE49-F238E27FC236}">
                <a16:creationId xmlns:a16="http://schemas.microsoft.com/office/drawing/2014/main" id="{2B267170-F2EF-9AC7-B627-361E4A4C9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618" y="1644285"/>
            <a:ext cx="4181395" cy="239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4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3574-4753-7E5A-B131-0B27279B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8D050-5F7F-F2EA-8D12-28B795BA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libri"/>
                <a:ea typeface="Calibri"/>
                <a:cs typeface="Calibri"/>
              </a:rPr>
              <a:t>QCM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1D52728-F7B8-CBD6-7FEB-A4C191CDA1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B71F303D-2E6B-CD9C-3481-10C5C58B5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990" y="1155032"/>
            <a:ext cx="5943348" cy="511342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fr-FR" dirty="0"/>
              <a:t>4. Le risque volume correspond à :</a:t>
            </a:r>
          </a:p>
          <a:p>
            <a:pPr algn="l"/>
            <a:r>
              <a:rPr lang="fr-FR" dirty="0"/>
              <a:t>A. Une coupure d’énergie</a:t>
            </a:r>
            <a:br>
              <a:rPr lang="fr-FR" dirty="0"/>
            </a:br>
            <a:r>
              <a:rPr lang="fr-FR" dirty="0"/>
              <a:t>B. Une variation entre la consommation prévue et la consommation réelle</a:t>
            </a:r>
            <a:br>
              <a:rPr lang="fr-FR" dirty="0"/>
            </a:br>
            <a:r>
              <a:rPr lang="fr-FR" dirty="0"/>
              <a:t>C. Une hausse des taxes</a:t>
            </a:r>
            <a:br>
              <a:rPr lang="fr-FR" dirty="0"/>
            </a:br>
            <a:r>
              <a:rPr lang="fr-FR" dirty="0"/>
              <a:t>D. Un changement de fournisseur</a:t>
            </a:r>
          </a:p>
          <a:p>
            <a:pPr algn="l"/>
            <a:r>
              <a:rPr lang="fr-FR" dirty="0"/>
              <a:t> </a:t>
            </a:r>
          </a:p>
          <a:p>
            <a:pPr algn="l"/>
            <a:r>
              <a:rPr lang="fr-FR" dirty="0"/>
              <a:t>5. Quel type de contrat offre la meilleure visibilité budgétaire ?</a:t>
            </a:r>
          </a:p>
          <a:p>
            <a:pPr algn="l"/>
            <a:r>
              <a:rPr lang="fr-FR" dirty="0"/>
              <a:t>A. Contrat spot</a:t>
            </a:r>
            <a:br>
              <a:rPr lang="fr-FR" dirty="0"/>
            </a:br>
            <a:r>
              <a:rPr lang="fr-FR" dirty="0"/>
              <a:t>B. Contrat à prix indexé</a:t>
            </a:r>
            <a:br>
              <a:rPr lang="fr-FR" dirty="0"/>
            </a:br>
            <a:r>
              <a:rPr lang="fr-FR" dirty="0"/>
              <a:t>C. Contrat à prix fixe</a:t>
            </a:r>
            <a:br>
              <a:rPr lang="fr-FR" dirty="0"/>
            </a:br>
            <a:r>
              <a:rPr lang="fr-FR" dirty="0"/>
              <a:t>D. Contrat de courte durée</a:t>
            </a:r>
          </a:p>
          <a:p>
            <a:pPr algn="l"/>
            <a:r>
              <a:rPr lang="fr-FR" dirty="0"/>
              <a:t> </a:t>
            </a:r>
          </a:p>
          <a:p>
            <a:pPr algn="l"/>
            <a:r>
              <a:rPr lang="fr-FR" dirty="0"/>
              <a:t>6. Quel est l’inconvénient principal d’un contrat à prix fixe ?</a:t>
            </a:r>
          </a:p>
          <a:p>
            <a:pPr algn="l"/>
            <a:r>
              <a:rPr lang="fr-FR" dirty="0"/>
              <a:t>A. Il est interdit par la réglementation</a:t>
            </a:r>
            <a:br>
              <a:rPr lang="fr-FR" dirty="0"/>
            </a:br>
            <a:r>
              <a:rPr lang="fr-FR" dirty="0"/>
              <a:t>B. Il empêche de profiter d’une baisse des prix de marché</a:t>
            </a:r>
            <a:br>
              <a:rPr lang="fr-FR" dirty="0"/>
            </a:br>
            <a:r>
              <a:rPr lang="fr-FR" dirty="0"/>
              <a:t>C. Il augmente automatiquement la consommation</a:t>
            </a:r>
            <a:br>
              <a:rPr lang="fr-FR" dirty="0"/>
            </a:br>
            <a:r>
              <a:rPr lang="fr-FR" dirty="0"/>
              <a:t>D. Il empêche l’autoconsommation</a:t>
            </a:r>
          </a:p>
          <a:p>
            <a:pPr algn="l"/>
            <a:endParaRPr lang="fr-FR" dirty="0"/>
          </a:p>
          <a:p>
            <a:pPr algn="l"/>
            <a:r>
              <a:rPr lang="fr-FR" dirty="0"/>
              <a:t>7. Quel est l’intérêt d’une stratégie d’achat mixte ?</a:t>
            </a:r>
          </a:p>
          <a:p>
            <a:pPr algn="l"/>
            <a:r>
              <a:rPr lang="fr-FR" dirty="0"/>
              <a:t>A. Supprimer totalement le risque</a:t>
            </a:r>
            <a:br>
              <a:rPr lang="fr-FR" dirty="0"/>
            </a:br>
            <a:r>
              <a:rPr lang="fr-FR" dirty="0"/>
              <a:t>B. Acheter uniquement sur le marché spot</a:t>
            </a:r>
            <a:br>
              <a:rPr lang="fr-FR" dirty="0"/>
            </a:br>
            <a:r>
              <a:rPr lang="fr-FR" dirty="0"/>
              <a:t>C. Combiner sécurité et opportunités de marché</a:t>
            </a:r>
            <a:br>
              <a:rPr lang="fr-FR" dirty="0"/>
            </a:br>
            <a:r>
              <a:rPr lang="fr-FR" dirty="0"/>
              <a:t>D. Réduire directement la consommation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sym typeface="Wingdings" panose="05000000000000000000" pitchFamily="2" charset="2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9C3BC37-D91A-0D47-F48E-094399EFE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F820AC-63D8-C5E9-6C68-5B7F90096B91}"/>
              </a:ext>
            </a:extLst>
          </p:cNvPr>
          <p:cNvSpPr/>
          <p:nvPr/>
        </p:nvSpPr>
        <p:spPr>
          <a:xfrm>
            <a:off x="7736304" y="-144379"/>
            <a:ext cx="4824665" cy="71467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218" name="Picture 2" descr="Comment réussir les QCM - Potion de Vie / Jean-Yves Ponce">
            <a:extLst>
              <a:ext uri="{FF2B5EF4-FFF2-40B4-BE49-F238E27FC236}">
                <a16:creationId xmlns:a16="http://schemas.microsoft.com/office/drawing/2014/main" id="{AD189F53-38E9-79EE-3613-975D5408A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618" y="1644285"/>
            <a:ext cx="4181395" cy="239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10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F6FD-32F9-05E9-0B58-909E906A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55138D-6FEE-46AE-83D0-671F9B4C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libri"/>
                <a:ea typeface="Calibri"/>
                <a:cs typeface="Calibri"/>
              </a:rPr>
              <a:t>QCM</a:t>
            </a:r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DCC642D-2F04-B66E-D115-F3FE400D18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6C32C3E-7FEA-25EC-F300-E7A293DE8F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990" y="1720516"/>
            <a:ext cx="5943348" cy="41226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fr-FR" dirty="0"/>
              <a:t>8. Pourquoi la veille de marché est-elle importante pour un acheteur énergie ?</a:t>
            </a:r>
          </a:p>
          <a:p>
            <a:pPr algn="l"/>
            <a:r>
              <a:rPr lang="fr-FR" dirty="0"/>
              <a:t>A. Pour changer souvent de fournisseur</a:t>
            </a:r>
            <a:br>
              <a:rPr lang="fr-FR" dirty="0"/>
            </a:br>
            <a:r>
              <a:rPr lang="fr-FR" dirty="0"/>
              <a:t>B. Pour anticiper les évolutions de prix et adapter la stratégie</a:t>
            </a:r>
            <a:br>
              <a:rPr lang="fr-FR" dirty="0"/>
            </a:br>
            <a:r>
              <a:rPr lang="fr-FR" dirty="0"/>
              <a:t>C. Pour réduire les taxes énergétiques</a:t>
            </a:r>
            <a:br>
              <a:rPr lang="fr-FR" dirty="0"/>
            </a:br>
            <a:r>
              <a:rPr lang="fr-FR" dirty="0"/>
              <a:t>D. Pour éviter toute contractualisation</a:t>
            </a:r>
          </a:p>
          <a:p>
            <a:pPr algn="l"/>
            <a:r>
              <a:rPr lang="fr-FR" dirty="0"/>
              <a:t> </a:t>
            </a:r>
          </a:p>
          <a:p>
            <a:pPr algn="l"/>
            <a:r>
              <a:rPr lang="fr-FR" dirty="0"/>
              <a:t>9. En quoi l’optimisation de la consommation influence-t-elle la stratégie d’achat ?</a:t>
            </a:r>
          </a:p>
          <a:p>
            <a:pPr algn="l"/>
            <a:r>
              <a:rPr lang="fr-FR" dirty="0"/>
              <a:t>A. Elle n’a aucun impact</a:t>
            </a:r>
            <a:br>
              <a:rPr lang="fr-FR" dirty="0"/>
            </a:br>
            <a:r>
              <a:rPr lang="fr-FR" dirty="0"/>
              <a:t>B. Elle complique la stratégie</a:t>
            </a:r>
            <a:br>
              <a:rPr lang="fr-FR" dirty="0"/>
            </a:br>
            <a:r>
              <a:rPr lang="fr-FR" dirty="0"/>
              <a:t>C. Elle réduit l’exposition au risque en diminuant les volumes achetés</a:t>
            </a:r>
            <a:br>
              <a:rPr lang="fr-FR" dirty="0"/>
            </a:br>
            <a:r>
              <a:rPr lang="fr-FR" dirty="0"/>
              <a:t>D. Elle remplace les contrats d’énergie</a:t>
            </a:r>
          </a:p>
          <a:p>
            <a:pPr algn="l"/>
            <a:r>
              <a:rPr lang="fr-FR" dirty="0"/>
              <a:t> </a:t>
            </a:r>
          </a:p>
          <a:p>
            <a:pPr algn="l"/>
            <a:r>
              <a:rPr lang="fr-FR" dirty="0"/>
              <a:t>10. Pourquoi ce cours est-il placé en fin de cursus ?</a:t>
            </a:r>
          </a:p>
          <a:p>
            <a:pPr algn="l"/>
            <a:r>
              <a:rPr lang="fr-FR" dirty="0"/>
              <a:t>A. Il est plus simple que les autres</a:t>
            </a:r>
            <a:br>
              <a:rPr lang="fr-FR" dirty="0"/>
            </a:br>
            <a:r>
              <a:rPr lang="fr-FR" dirty="0"/>
              <a:t>B. Il ne concerne que les experts</a:t>
            </a:r>
            <a:br>
              <a:rPr lang="fr-FR" dirty="0"/>
            </a:br>
            <a:r>
              <a:rPr lang="fr-FR" dirty="0"/>
              <a:t>C. Il mobilise l’ensemble des notions vues précédemment</a:t>
            </a:r>
            <a:br>
              <a:rPr lang="fr-FR" dirty="0"/>
            </a:br>
            <a:r>
              <a:rPr lang="fr-FR" dirty="0"/>
              <a:t>D. Il est optionnel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sym typeface="Wingdings" panose="05000000000000000000" pitchFamily="2" charset="2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FCF4DC-0323-13FB-8DD6-FE5C24565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D4076-0B77-82C2-B023-A109DA1B4A25}"/>
              </a:ext>
            </a:extLst>
          </p:cNvPr>
          <p:cNvSpPr/>
          <p:nvPr/>
        </p:nvSpPr>
        <p:spPr>
          <a:xfrm>
            <a:off x="7736304" y="-144379"/>
            <a:ext cx="4824665" cy="71467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218" name="Picture 2" descr="Comment réussir les QCM - Potion de Vie / Jean-Yves Ponce">
            <a:extLst>
              <a:ext uri="{FF2B5EF4-FFF2-40B4-BE49-F238E27FC236}">
                <a16:creationId xmlns:a16="http://schemas.microsoft.com/office/drawing/2014/main" id="{172C93E1-0BBA-8DFB-5CDD-DE2CA3C9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618" y="1644285"/>
            <a:ext cx="4181395" cy="239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61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648B-FB4C-A855-66A6-D611CEC1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A13B8A-2BF1-D508-D964-C9BF3C2F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DCFF2F6-0753-F123-602C-A47D233D92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F7140-2FB8-F59F-2826-FC8288639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8AE79D-57E8-5EF9-EACC-3D8A6185FA0E}"/>
              </a:ext>
            </a:extLst>
          </p:cNvPr>
          <p:cNvSpPr txBox="1"/>
          <p:nvPr/>
        </p:nvSpPr>
        <p:spPr>
          <a:xfrm>
            <a:off x="445169" y="1371600"/>
            <a:ext cx="91680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1. C – Une stratégie d’achat vise à équilibrer coût, visibilité budgétaire et niveau de risque.</a:t>
            </a:r>
          </a:p>
          <a:p>
            <a:r>
              <a:rPr lang="fr-FR" dirty="0"/>
              <a:t>2. B – L’électricité doit être produite et consommée en temps réel, ce qui augmente la volatilité.</a:t>
            </a:r>
          </a:p>
          <a:p>
            <a:r>
              <a:rPr lang="fr-FR" dirty="0"/>
              <a:t>3. B – Le risque prix correspond à l’incertitude sur l’évolution future des prix de l’énergie.</a:t>
            </a:r>
          </a:p>
          <a:p>
            <a:r>
              <a:rPr lang="fr-FR" dirty="0"/>
              <a:t>4. B – Le risque volume est lié à l’écart entre consommation prévue et consommation réelle.</a:t>
            </a:r>
          </a:p>
          <a:p>
            <a:r>
              <a:rPr lang="fr-FR" dirty="0"/>
              <a:t>5. C – Le prix fixe permet de connaître à l’avance le coût de l’énergie.</a:t>
            </a:r>
          </a:p>
          <a:p>
            <a:r>
              <a:rPr lang="fr-FR" dirty="0"/>
              <a:t>6. B – Un contrat à prix fixe ne permet pas de profiter d’une baisse des prix de marché.</a:t>
            </a:r>
          </a:p>
          <a:p>
            <a:r>
              <a:rPr lang="fr-FR" dirty="0"/>
              <a:t>7. C – La stratégie mixte combine sécurité et exposition partielle au marché.</a:t>
            </a:r>
          </a:p>
          <a:p>
            <a:r>
              <a:rPr lang="fr-FR" dirty="0"/>
              <a:t>8. B – La veille de marché permet d’anticiper les évolutions de prix.</a:t>
            </a:r>
          </a:p>
          <a:p>
            <a:r>
              <a:rPr lang="fr-FR" dirty="0"/>
              <a:t>9. C – Réduire la consommation diminue l’exposition aux variations de prix.</a:t>
            </a:r>
          </a:p>
          <a:p>
            <a:r>
              <a:rPr lang="fr-FR" dirty="0"/>
              <a:t>10. C – Ce cours mobilise l’ensemble des notions vues dans le cursus.</a:t>
            </a:r>
          </a:p>
        </p:txBody>
      </p:sp>
      <p:pic>
        <p:nvPicPr>
          <p:cNvPr id="10242" name="Picture 2" descr="👍 Pouce Vers Le Haut Emoji: Signification &amp; Utilisation">
            <a:extLst>
              <a:ext uri="{FF2B5EF4-FFF2-40B4-BE49-F238E27FC236}">
                <a16:creationId xmlns:a16="http://schemas.microsoft.com/office/drawing/2014/main" id="{EF476192-B553-5D16-9790-86BDA80E4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911" y="346755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44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37DA82-A80E-7761-4908-78FE12BC8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47202" y="4023145"/>
            <a:ext cx="10863272" cy="113840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i="1" dirty="0">
                <a:solidFill>
                  <a:schemeClr val="tx2"/>
                </a:solidFill>
              </a:rPr>
              <a:t>Merci d’avoir suivi l’ensemble du cursus sur le marché de l’énergie.</a:t>
            </a:r>
          </a:p>
          <a:p>
            <a:pPr algn="ctr"/>
            <a:r>
              <a:rPr lang="fr-FR" i="1" dirty="0">
                <a:solidFill>
                  <a:schemeClr val="tx2"/>
                </a:solidFill>
              </a:rPr>
              <a:t>Les modalités de validation finale et de certification vous seront communiquées ultérieurement par l’équipe pédagogique.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8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-COUVERTU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2.xml><?xml version="1.0" encoding="utf-8"?>
<a:theme xmlns:a="http://schemas.openxmlformats.org/drawingml/2006/main" name="2-SOMMAI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3.xml><?xml version="1.0" encoding="utf-8"?>
<a:theme xmlns:a="http://schemas.openxmlformats.org/drawingml/2006/main" name="3.2-CHAPITRE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4.xml><?xml version="1.0" encoding="utf-8"?>
<a:theme xmlns:a="http://schemas.openxmlformats.org/drawingml/2006/main" name="4.1-Corpu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5.xml><?xml version="1.0" encoding="utf-8"?>
<a:theme xmlns:a="http://schemas.openxmlformats.org/drawingml/2006/main" name="3.1-CHAPITRE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5-Fin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E937A98-06A5-4840-8B09-64C4AB41050A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A8A710-D4C6-492D-8141-8A4E235E3304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63D34E541314F80CD24A648ABC5FB" ma:contentTypeVersion="7" ma:contentTypeDescription="Create a new document." ma:contentTypeScope="" ma:versionID="fe3c99d7a639c00420632a79ce9d5da4">
  <xsd:schema xmlns:xsd="http://www.w3.org/2001/XMLSchema" xmlns:xs="http://www.w3.org/2001/XMLSchema" xmlns:p="http://schemas.microsoft.com/office/2006/metadata/properties" xmlns:ns2="cd5233e2-74fb-488a-aed8-75637c784312" targetNamespace="http://schemas.microsoft.com/office/2006/metadata/properties" ma:root="true" ma:fieldsID="e0f7e7fd5fef82a93d029aca2c45b4b9" ns2:_="">
    <xsd:import namespace="cd5233e2-74fb-488a-aed8-75637c784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233e2-74fb-488a-aed8-75637c784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130EB-DF45-42FA-9324-31E3910341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249CD-ACED-4D7C-93D6-85B52B7A2FAE}">
  <ds:schemaRefs>
    <ds:schemaRef ds:uri="http://purl.org/dc/terms/"/>
    <ds:schemaRef ds:uri="http://purl.org/dc/elements/1.1/"/>
    <ds:schemaRef ds:uri="657e7fb4-5038-4c53-afe4-01eaca43a1cf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d24fc02b-f8a1-4c49-8f09-7691813341f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438EC7-6BA8-46B7-AEE4-D77AAE5E613D}"/>
</file>

<file path=docMetadata/LabelInfo.xml><?xml version="1.0" encoding="utf-8"?>
<clbl:labelList xmlns:clbl="http://schemas.microsoft.com/office/2020/mipLabelMetadata">
  <clbl:label id="{9f5c8052-b1ea-40d1-8cd5-ea0c204ca84f}" enabled="1" method="Standard" siteId="{19e51c11-d919-4a98-899d-9b9dc33f4e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Thème Junia</Template>
  <TotalTime>217</TotalTime>
  <Words>1551</Words>
  <Application>Microsoft Office PowerPoint</Application>
  <PresentationFormat>Widescreen</PresentationFormat>
  <Paragraphs>177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1-COUVERTURE</vt:lpstr>
      <vt:lpstr>2-SOMMAIRE</vt:lpstr>
      <vt:lpstr>3.2-CHAPITRES EXTERNE</vt:lpstr>
      <vt:lpstr>4.1-Corpus INTERNE</vt:lpstr>
      <vt:lpstr>3.1-CHAPITRES INTERNE</vt:lpstr>
      <vt:lpstr>Thème Office</vt:lpstr>
      <vt:lpstr>5-Fin</vt:lpstr>
      <vt:lpstr>Comprendre le rôle de l’acheteur énergie Identifier les risques liés aux marchés Comparer les types de contrats Construire une stratégie d’achat adaptée</vt:lpstr>
      <vt:lpstr>rappels</vt:lpstr>
      <vt:lpstr>Rappel : marchés de l’électricité et du gaz </vt:lpstr>
      <vt:lpstr>Différences entre électricité et gaz</vt:lpstr>
      <vt:lpstr>Origine de la volatilité des prix</vt:lpstr>
      <vt:lpstr>Notion de risque énergétique</vt:lpstr>
      <vt:lpstr>Enjeux pour les entreprises</vt:lpstr>
      <vt:lpstr>Types de contrats d’achat</vt:lpstr>
      <vt:lpstr>Stratégies d’achat de l’énergie</vt:lpstr>
      <vt:lpstr>Gestion et maîtrise du risque</vt:lpstr>
      <vt:lpstr>Exemple concret</vt:lpstr>
      <vt:lpstr>Synthèse du cours</vt:lpstr>
      <vt:lpstr>Exercice </vt:lpstr>
      <vt:lpstr>CORRECTION </vt:lpstr>
      <vt:lpstr>CORRECTION </vt:lpstr>
      <vt:lpstr>CORRECTION </vt:lpstr>
      <vt:lpstr>CORRECTION </vt:lpstr>
      <vt:lpstr>QCM</vt:lpstr>
      <vt:lpstr>QCM</vt:lpstr>
      <vt:lpstr>QCM</vt:lpstr>
      <vt:lpstr>CORRECTION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SAS</dc:creator>
  <cp:lastModifiedBy>Timothé EVEILLARD</cp:lastModifiedBy>
  <cp:revision>10</cp:revision>
  <dcterms:created xsi:type="dcterms:W3CDTF">2025-10-20T13:43:34Z</dcterms:created>
  <dcterms:modified xsi:type="dcterms:W3CDTF">2026-01-09T12:23:49Z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0x0101004DE63D34E541314F80CD24A648ABC5FB</vt:lpwstr>
  </property>
</Properties>
</file>