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4"/>
    <p:sldMasterId id="2147483902" r:id="rId5"/>
    <p:sldMasterId id="2147483879" r:id="rId6"/>
    <p:sldMasterId id="2147483917" r:id="rId7"/>
    <p:sldMasterId id="2147483851" r:id="rId8"/>
    <p:sldMasterId id="2147483928" r:id="rId9"/>
    <p:sldMasterId id="2147483913" r:id="rId10"/>
  </p:sldMasterIdLst>
  <p:notesMasterIdLst>
    <p:notesMasterId r:id="rId29"/>
  </p:notesMasterIdLst>
  <p:sldIdLst>
    <p:sldId id="278" r:id="rId11"/>
    <p:sldId id="279" r:id="rId12"/>
    <p:sldId id="280" r:id="rId13"/>
    <p:sldId id="282" r:id="rId14"/>
    <p:sldId id="283" r:id="rId15"/>
    <p:sldId id="281" r:id="rId16"/>
    <p:sldId id="285" r:id="rId17"/>
    <p:sldId id="284" r:id="rId18"/>
    <p:sldId id="286" r:id="rId19"/>
    <p:sldId id="290" r:id="rId20"/>
    <p:sldId id="287" r:id="rId21"/>
    <p:sldId id="292" r:id="rId22"/>
    <p:sldId id="288" r:id="rId23"/>
    <p:sldId id="289" r:id="rId24"/>
    <p:sldId id="294" r:id="rId25"/>
    <p:sldId id="295" r:id="rId26"/>
    <p:sldId id="296" r:id="rId27"/>
    <p:sldId id="293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4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3DCF2-C655-F3F5-1E88-CC843350BEC5}" v="4" dt="2026-01-11T12:34:00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7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é EVEILLARD" userId="S::timothe.eveillard@student.junia.com::448f0ee0-a7c7-4812-81d4-5d73fdf4ebed" providerId="AD" clId="Web-{4606E2C3-DFA5-1D5A-EA5B-E47574E02E70}"/>
    <pc:docChg chg="modSld">
      <pc:chgData name="Timothé EVEILLARD" userId="S::timothe.eveillard@student.junia.com::448f0ee0-a7c7-4812-81d4-5d73fdf4ebed" providerId="AD" clId="Web-{4606E2C3-DFA5-1D5A-EA5B-E47574E02E70}" dt="2026-01-09T12:23:35.876" v="7" actId="20577"/>
      <pc:docMkLst>
        <pc:docMk/>
      </pc:docMkLst>
      <pc:sldChg chg="modSp">
        <pc:chgData name="Timothé EVEILLARD" userId="S::timothe.eveillard@student.junia.com::448f0ee0-a7c7-4812-81d4-5d73fdf4ebed" providerId="AD" clId="Web-{4606E2C3-DFA5-1D5A-EA5B-E47574E02E70}" dt="2026-01-09T12:23:31.361" v="6" actId="20577"/>
        <pc:sldMkLst>
          <pc:docMk/>
          <pc:sldMk cId="2455105144" sldId="297"/>
        </pc:sldMkLst>
        <pc:spChg chg="mod">
          <ac:chgData name="Timothé EVEILLARD" userId="S::timothe.eveillard@student.junia.com::448f0ee0-a7c7-4812-81d4-5d73fdf4ebed" providerId="AD" clId="Web-{4606E2C3-DFA5-1D5A-EA5B-E47574E02E70}" dt="2026-01-09T12:23:31.361" v="6" actId="20577"/>
          <ac:spMkLst>
            <pc:docMk/>
            <pc:sldMk cId="2455105144" sldId="297"/>
            <ac:spMk id="2" creationId="{D4A8D050-5F7F-F2EA-8D12-28B795BA30A2}"/>
          </ac:spMkLst>
        </pc:spChg>
      </pc:sldChg>
      <pc:sldChg chg="modSp">
        <pc:chgData name="Timothé EVEILLARD" userId="S::timothe.eveillard@student.junia.com::448f0ee0-a7c7-4812-81d4-5d73fdf4ebed" providerId="AD" clId="Web-{4606E2C3-DFA5-1D5A-EA5B-E47574E02E70}" dt="2026-01-09T12:23:35.876" v="7" actId="20577"/>
        <pc:sldMkLst>
          <pc:docMk/>
          <pc:sldMk cId="991617196" sldId="298"/>
        </pc:sldMkLst>
        <pc:spChg chg="mod">
          <ac:chgData name="Timothé EVEILLARD" userId="S::timothe.eveillard@student.junia.com::448f0ee0-a7c7-4812-81d4-5d73fdf4ebed" providerId="AD" clId="Web-{4606E2C3-DFA5-1D5A-EA5B-E47574E02E70}" dt="2026-01-09T12:23:35.876" v="7" actId="20577"/>
          <ac:spMkLst>
            <pc:docMk/>
            <pc:sldMk cId="991617196" sldId="298"/>
            <ac:spMk id="2" creationId="{4055138D-6FEE-46AE-83D0-671F9B4CB2D1}"/>
          </ac:spMkLst>
        </pc:spChg>
      </pc:sldChg>
    </pc:docChg>
  </pc:docChgLst>
  <pc:docChgLst>
    <pc:chgData name="Timothé EVEILLARD" userId="S::timothe.eveillard@student.junia.com::448f0ee0-a7c7-4812-81d4-5d73fdf4ebed" providerId="AD" clId="Web-{43E3DCF2-C655-F3F5-1E88-CC843350BEC5}"/>
    <pc:docChg chg="delSld">
      <pc:chgData name="Timothé EVEILLARD" userId="S::timothe.eveillard@student.junia.com::448f0ee0-a7c7-4812-81d4-5d73fdf4ebed" providerId="AD" clId="Web-{43E3DCF2-C655-F3F5-1E88-CC843350BEC5}" dt="2026-01-11T12:34:00.164" v="3"/>
      <pc:docMkLst>
        <pc:docMk/>
      </pc:docMkLst>
      <pc:sldChg chg="del">
        <pc:chgData name="Timothé EVEILLARD" userId="S::timothe.eveillard@student.junia.com::448f0ee0-a7c7-4812-81d4-5d73fdf4ebed" providerId="AD" clId="Web-{43E3DCF2-C655-F3F5-1E88-CC843350BEC5}" dt="2026-01-11T12:33:51.460" v="0"/>
        <pc:sldMkLst>
          <pc:docMk/>
          <pc:sldMk cId="1841246703" sldId="291"/>
        </pc:sldMkLst>
      </pc:sldChg>
      <pc:sldChg chg="del">
        <pc:chgData name="Timothé EVEILLARD" userId="S::timothe.eveillard@student.junia.com::448f0ee0-a7c7-4812-81d4-5d73fdf4ebed" providerId="AD" clId="Web-{43E3DCF2-C655-F3F5-1E88-CC843350BEC5}" dt="2026-01-11T12:33:58.382" v="2"/>
        <pc:sldMkLst>
          <pc:docMk/>
          <pc:sldMk cId="2455105144" sldId="297"/>
        </pc:sldMkLst>
      </pc:sldChg>
      <pc:sldChg chg="del">
        <pc:chgData name="Timothé EVEILLARD" userId="S::timothe.eveillard@student.junia.com::448f0ee0-a7c7-4812-81d4-5d73fdf4ebed" providerId="AD" clId="Web-{43E3DCF2-C655-F3F5-1E88-CC843350BEC5}" dt="2026-01-11T12:33:55.226" v="1"/>
        <pc:sldMkLst>
          <pc:docMk/>
          <pc:sldMk cId="991617196" sldId="298"/>
        </pc:sldMkLst>
      </pc:sldChg>
      <pc:sldChg chg="del">
        <pc:chgData name="Timothé EVEILLARD" userId="S::timothe.eveillard@student.junia.com::448f0ee0-a7c7-4812-81d4-5d73fdf4ebed" providerId="AD" clId="Web-{43E3DCF2-C655-F3F5-1E88-CC843350BEC5}" dt="2026-01-11T12:34:00.164" v="3"/>
        <pc:sldMkLst>
          <pc:docMk/>
          <pc:sldMk cId="3123443292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11/01/2026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03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83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927" r:id="rId2"/>
    <p:sldLayoutId id="2147483884" r:id="rId3"/>
    <p:sldLayoutId id="2147483883" r:id="rId4"/>
    <p:sldLayoutId id="2147483881" r:id="rId5"/>
    <p:sldLayoutId id="214748388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2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jpe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6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31.jpe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080395"/>
            <a:ext cx="3845490" cy="2658607"/>
          </a:xfrm>
        </p:spPr>
        <p:txBody>
          <a:bodyPr/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fr-FR" sz="2000" dirty="0"/>
              <a:t>Comprendre le rôle de l’acheteur énergie</a:t>
            </a:r>
            <a:br>
              <a:rPr lang="fr-FR" sz="2000" dirty="0"/>
            </a:br>
            <a:r>
              <a:rPr lang="fr-FR" sz="2000" dirty="0"/>
              <a:t>Identifier les risques liés aux marchés</a:t>
            </a:r>
            <a:br>
              <a:rPr lang="fr-FR" sz="2000" dirty="0"/>
            </a:br>
            <a:r>
              <a:rPr lang="fr-FR" sz="2000" dirty="0"/>
              <a:t>Comparer les types de contrats</a:t>
            </a:r>
            <a:br>
              <a:rPr lang="fr-FR" sz="2000" dirty="0"/>
            </a:br>
            <a:r>
              <a:rPr lang="fr-FR" sz="2000" dirty="0"/>
              <a:t>Construire une stratégie d’achat adaptée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5 : Stratégie d’achat et gestion du risque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  <p:pic>
        <p:nvPicPr>
          <p:cNvPr id="1026" name="Picture 2" descr="Directions des achats : améliorez la gestion du risque fournisseur">
            <a:extLst>
              <a:ext uri="{FF2B5EF4-FFF2-40B4-BE49-F238E27FC236}">
                <a16:creationId xmlns:a16="http://schemas.microsoft.com/office/drawing/2014/main" id="{5B1C615E-34FF-C773-3DB1-3C5CD85F97CD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r="20341"/>
          <a:stretch>
            <a:fillRect/>
          </a:stretch>
        </p:blipFill>
        <p:spPr bwMode="auto">
          <a:xfrm>
            <a:off x="5962398" y="2702526"/>
            <a:ext cx="4684615" cy="39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Synthèse &amp; Exercice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33" y="2186487"/>
            <a:ext cx="2697036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  <a:defRPr cap="all"/>
            </a:pPr>
            <a:r>
              <a:rPr lang="fr-FR" sz="1800" dirty="0"/>
              <a:t>rappels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11137" y="4824488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Stratégies d’achat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670924" y="4671512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Gestion du risque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359826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Types de contrats d’achat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Notion de risque énergétique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5879" y="6356349"/>
            <a:ext cx="2982811" cy="365125"/>
          </a:xfrm>
        </p:spPr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624" y="136525"/>
            <a:ext cx="7126727" cy="2029159"/>
          </a:xfrm>
        </p:spPr>
        <p:txBody>
          <a:bodyPr/>
          <a:lstStyle/>
          <a:p>
            <a:r>
              <a:rPr lang="fr-FR" sz="5400" dirty="0"/>
              <a:t>Rappel : marchés de l’électricité et du gaz</a:t>
            </a:r>
            <a:br>
              <a:rPr lang="fr-FR" sz="5400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9B3C65-F91C-9049-137A-8624B56B2A63}"/>
              </a:ext>
            </a:extLst>
          </p:cNvPr>
          <p:cNvSpPr txBox="1"/>
          <p:nvPr/>
        </p:nvSpPr>
        <p:spPr>
          <a:xfrm>
            <a:off x="0" y="1955764"/>
            <a:ext cx="57300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Les marchés de l’électricité et du gaz fonctionnent selon des règles économiques communes, mais présentent des spécificités importantes qui influencent fortement les prix.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Marchés organisés et concurrentiels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Prix déterminés par l’offre et la demande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Électricité : production et consommation en temps réel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Gaz : possibilité de stockage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Sensibilité aux variations de marché</a:t>
            </a:r>
          </a:p>
        </p:txBody>
      </p:sp>
      <p:pic>
        <p:nvPicPr>
          <p:cNvPr id="1027" name="Picture 3" descr="Prix de l'électricité et du gaz : les tarifs régulés protègent-ils les  consommateurs ? - Le Parisien">
            <a:extLst>
              <a:ext uri="{FF2B5EF4-FFF2-40B4-BE49-F238E27FC236}">
                <a16:creationId xmlns:a16="http://schemas.microsoft.com/office/drawing/2014/main" id="{760A5B77-2C32-4296-2E75-F7ADC0B9A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012" y="2165684"/>
            <a:ext cx="3272735" cy="387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Différences entre électricité et gaz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5" y="1504335"/>
            <a:ext cx="4149866" cy="456655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</a:pPr>
            <a:r>
              <a:rPr lang="fr-FR" sz="2000" dirty="0"/>
              <a:t>Électricité :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Production = consommation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Non stockable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Très volatile</a:t>
            </a:r>
            <a:endParaRPr lang="fr-FR" altLang="fr-FR" sz="2000" dirty="0">
              <a:latin typeface="Arial" panose="020B0604020202020204" pitchFamily="34" charset="0"/>
            </a:endParaRPr>
          </a:p>
          <a:p>
            <a:pPr lvl="0" defTabSz="915988" eaLnBrk="0" fontAlgn="base" hangingPunct="0">
              <a:spcBef>
                <a:spcPct val="0"/>
              </a:spcBef>
            </a:pPr>
            <a:r>
              <a:rPr lang="fr-FR" sz="2000" dirty="0"/>
              <a:t>Gaz :</a:t>
            </a:r>
          </a:p>
          <a:p>
            <a:pPr marL="342900" lvl="0" indent="-342900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Stockable</a:t>
            </a:r>
          </a:p>
          <a:p>
            <a:pPr marL="342900" lvl="0" indent="-342900" algn="l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Plus flexible</a:t>
            </a:r>
          </a:p>
          <a:p>
            <a:pPr marL="342900" lvl="0" indent="-342900" algn="l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Dépendant des importations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2050" name="Picture 2" descr="Chauffage gaz ou électrique : le comparatif pour choisir">
            <a:extLst>
              <a:ext uri="{FF2B5EF4-FFF2-40B4-BE49-F238E27FC236}">
                <a16:creationId xmlns:a16="http://schemas.microsoft.com/office/drawing/2014/main" id="{07847B18-9A6B-BBBB-BDD1-B69361E5A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61" y="1704656"/>
            <a:ext cx="6897374" cy="344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4695" y="1504334"/>
            <a:ext cx="4360230" cy="3921908"/>
          </a:xfrm>
        </p:spPr>
        <p:txBody>
          <a:bodyPr/>
          <a:lstStyle/>
          <a:p>
            <a:pPr algn="l" eaLnBrk="0" fontAlgn="base" hangingPunct="0">
              <a:spcBef>
                <a:spcPct val="0"/>
              </a:spcBef>
            </a:pPr>
            <a:r>
              <a:rPr lang="fr-FR" sz="2000" dirty="0"/>
              <a:t>Les prix de l’énergie évoluent en fonction de nombreux facteurs externes, souvent difficiles à anticiper, qui influencent directement l’équilibre du marché comme : 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Conditions météorologiques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Disponibilité des moyens production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Prix des matières premières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Contexte géopolitique</a:t>
            </a:r>
            <a:br>
              <a:rPr lang="fr-FR" sz="2000" dirty="0"/>
            </a:br>
            <a:r>
              <a:rPr lang="fr-FR" sz="2000" dirty="0"/>
              <a:t>Évolution de la demande</a:t>
            </a:r>
            <a:endParaRPr lang="fr-FR" altLang="fr-FR" sz="2000" b="0" dirty="0">
              <a:solidFill>
                <a:srgbClr val="56436A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40467E0-7CE2-09EE-BC04-A154A6A1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Origine de la volatilité des prix</a:t>
            </a:r>
          </a:p>
        </p:txBody>
      </p:sp>
      <p:pic>
        <p:nvPicPr>
          <p:cNvPr id="3074" name="Picture 2" descr="Marché de l'électricité - La Banque Postale">
            <a:extLst>
              <a:ext uri="{FF2B5EF4-FFF2-40B4-BE49-F238E27FC236}">
                <a16:creationId xmlns:a16="http://schemas.microsoft.com/office/drawing/2014/main" id="{A137EB6E-49E6-70BB-B9F0-697B21D55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59" y="1349549"/>
            <a:ext cx="7254725" cy="4625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703" y="235171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accent6">
                    <a:lumMod val="75000"/>
                  </a:schemeClr>
                </a:solidFill>
              </a:rPr>
              <a:t>Notion de risque énergétique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BDC4ED-25D8-6702-C8DD-A5DCC788FF31}"/>
              </a:ext>
            </a:extLst>
          </p:cNvPr>
          <p:cNvSpPr txBox="1"/>
          <p:nvPr/>
        </p:nvSpPr>
        <p:spPr>
          <a:xfrm>
            <a:off x="6478641" y="2361923"/>
            <a:ext cx="3429000" cy="1853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Incertitude sur le coût futur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prix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volume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contractuel</a:t>
            </a:r>
            <a:endParaRPr kumimoji="0" lang="fr-FR" sz="2000" b="0" i="0" u="none" strike="noStrike" cap="none" normalizeH="0" baseline="0" noProof="0" dirty="0">
              <a:ln>
                <a:noFill/>
              </a:ln>
              <a:effectLst/>
            </a:endParaRPr>
          </a:p>
        </p:txBody>
      </p:sp>
      <p:pic>
        <p:nvPicPr>
          <p:cNvPr id="4098" name="Picture 2" descr="Quels risques pour les marchés en 2023 selon l'AMF ? - La finance pour tous">
            <a:extLst>
              <a:ext uri="{FF2B5EF4-FFF2-40B4-BE49-F238E27FC236}">
                <a16:creationId xmlns:a16="http://schemas.microsoft.com/office/drawing/2014/main" id="{AD745E1D-FC29-7EE6-138E-E9983887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7" y="1787054"/>
            <a:ext cx="6075563" cy="343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pour les entreprises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602" y="1850170"/>
            <a:ext cx="5214577" cy="4566550"/>
          </a:xfr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0"/>
              </a:spcBef>
            </a:pPr>
            <a:r>
              <a:rPr lang="fr-FR" sz="2800" dirty="0"/>
              <a:t>Le risque énergétique correspond à l’incertitude liée à l’achat d’énergie et aux conditions dans lesquelles celle-ci est consommée.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</a:pPr>
            <a:endParaRPr lang="fr-FR" sz="2800" b="0" dirty="0">
              <a:solidFill>
                <a:srgbClr val="56436A"/>
              </a:solidFill>
            </a:endParaRP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Incertitude sur le coût futur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prix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volume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contractuel</a:t>
            </a:r>
            <a:endParaRPr lang="fr-FR" sz="2800" b="0" dirty="0">
              <a:solidFill>
                <a:srgbClr val="56436A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5122" name="Picture 2" descr="Pourquoi PowerPoint est l'outil le plus sous-côté en entreprise ? - Les  Edito de J'❤️ les startups">
            <a:extLst>
              <a:ext uri="{FF2B5EF4-FFF2-40B4-BE49-F238E27FC236}">
                <a16:creationId xmlns:a16="http://schemas.microsoft.com/office/drawing/2014/main" id="{338D5810-08CD-A7C6-092F-B072B1E9E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54" y="1388258"/>
            <a:ext cx="6409646" cy="426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3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363" y="355157"/>
            <a:ext cx="7708359" cy="2026947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fr-FR" sz="5400" dirty="0"/>
              <a:t>Types de contrats d’achat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EC8ACF-80D5-937D-C247-5115E1A9D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899462"/>
            <a:ext cx="3098058" cy="26952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</a:pPr>
            <a:endParaRPr lang="fr-FR" sz="2000" dirty="0"/>
          </a:p>
          <a:p>
            <a:pPr eaLnBrk="0" fontAlgn="base" hangingPunct="0">
              <a:spcBef>
                <a:spcPct val="0"/>
              </a:spcBef>
            </a:pPr>
            <a:r>
              <a:rPr lang="fr-FR" sz="2000" dirty="0"/>
              <a:t>Les types de contrats : 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à prix fixe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à prix indexé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mixte</a:t>
            </a:r>
            <a:endParaRPr lang="fr-FR" altLang="fr-FR" sz="2000" dirty="0">
              <a:latin typeface="Arial" panose="020B0604020202020204" pitchFamily="34" charset="0"/>
            </a:endParaRP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DE8CD45-76C5-7978-C32F-955287907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45" y="1549512"/>
            <a:ext cx="5421309" cy="340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accent6">
                    <a:lumMod val="75000"/>
                  </a:schemeClr>
                </a:solidFill>
              </a:rPr>
              <a:t>Stratégies d’achat de l’énergie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0564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A7EF65-CEF3-D361-A4AB-4567927395EE}"/>
              </a:ext>
            </a:extLst>
          </p:cNvPr>
          <p:cNvSpPr txBox="1"/>
          <p:nvPr/>
        </p:nvSpPr>
        <p:spPr>
          <a:xfrm>
            <a:off x="426038" y="1145951"/>
            <a:ext cx="55341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sécurisée</a:t>
            </a:r>
          </a:p>
          <a:p>
            <a:r>
              <a:rPr lang="fr-FR" dirty="0"/>
              <a:t>Cette stratégie consiste à sécuriser le prix de l’énergie afin de garantir une bonne visibilité budgétaire et de limiter le risque de hausse des prix.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opportuniste</a:t>
            </a:r>
          </a:p>
          <a:p>
            <a:r>
              <a:rPr lang="fr-FR" dirty="0"/>
              <a:t>Cette stratégie vise à suivre l’évolution du marché afin de profiter d’éventuelles baisses de prix, au prix d’une exposition plus forte au risque.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mixte</a:t>
            </a:r>
          </a:p>
          <a:p>
            <a:r>
              <a:rPr lang="fr-FR" dirty="0"/>
              <a:t>Cette stratégie combine une part d’énergie sécurisée et une part exposée au marché afin de trouver un équilibre entre sécurité et flexibilité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Lissage des achats dans le temps</a:t>
            </a:r>
          </a:p>
          <a:p>
            <a:r>
              <a:rPr lang="fr-FR" dirty="0"/>
              <a:t>Cette approche consiste à répartir les achats d’énergie sur différentes périodes afin de réduire l’impact des variations de prix.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noProof="0" dirty="0"/>
          </a:p>
        </p:txBody>
      </p:sp>
      <p:pic>
        <p:nvPicPr>
          <p:cNvPr id="6146" name="Picture 2" descr="Stratégie E-Commerce : les 3 étapes clés">
            <a:extLst>
              <a:ext uri="{FF2B5EF4-FFF2-40B4-BE49-F238E27FC236}">
                <a16:creationId xmlns:a16="http://schemas.microsoft.com/office/drawing/2014/main" id="{2D721253-6295-601F-9DDD-5B8FBE1F6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862" y="2167747"/>
            <a:ext cx="3867652" cy="232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186" y="0"/>
            <a:ext cx="6940790" cy="2875237"/>
          </a:xfrm>
        </p:spPr>
        <p:txBody>
          <a:bodyPr/>
          <a:lstStyle/>
          <a:p>
            <a:r>
              <a:rPr lang="fr-FR" dirty="0"/>
              <a:t>Gestion et maîtrise du risque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6AA3EFD-70D6-384B-BE20-46DA76C37113}"/>
              </a:ext>
            </a:extLst>
          </p:cNvPr>
          <p:cNvSpPr txBox="1"/>
          <p:nvPr/>
        </p:nvSpPr>
        <p:spPr>
          <a:xfrm>
            <a:off x="356937" y="1264084"/>
            <a:ext cx="631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La gestion du risque repose sur une démarche continue qui permet d’adapter la stratégie d’achat aux évolutions du marché et aux besoins réels du consommateur.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Anticipation des besoins énergétiques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Veille des marchés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Suivi des consommations réelles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Ajustement de la stratégie d’achat</a:t>
            </a:r>
          </a:p>
        </p:txBody>
      </p:sp>
      <p:pic>
        <p:nvPicPr>
          <p:cNvPr id="7172" name="Picture 4" descr="5 étapes de la méthodologie de gestion des risques">
            <a:extLst>
              <a:ext uri="{FF2B5EF4-FFF2-40B4-BE49-F238E27FC236}">
                <a16:creationId xmlns:a16="http://schemas.microsoft.com/office/drawing/2014/main" id="{0FC69C42-613E-3EC6-7B42-295559E9839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" r="5867"/>
          <a:stretch>
            <a:fillRect/>
          </a:stretch>
        </p:blipFill>
        <p:spPr bwMode="auto">
          <a:xfrm>
            <a:off x="4036979" y="2598821"/>
            <a:ext cx="4660932" cy="351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75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98BE-DB4F-6AA5-6257-FE62B47E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0C5A-E23A-3335-3E26-E6346D07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concret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A074BE3-8F4B-FA8A-5E5D-1403E52920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594C56F-4452-A595-612D-1308227D2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984" y="1629596"/>
            <a:ext cx="4242816" cy="4251145"/>
          </a:xfrm>
        </p:spPr>
        <p:txBody>
          <a:bodyPr>
            <a:normAutofit/>
          </a:bodyPr>
          <a:lstStyle/>
          <a:p>
            <a:pPr marL="0" indent="0" algn="l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fr-FR" sz="2000" b="0" dirty="0"/>
              <a:t>Cet exemple permet d’illustrer concrètement comment une entreprise applique une stratégie d’achat d’énergie en fonction de son profil de consommation et du contexte de marché.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fr-FR" sz="2000" b="0" dirty="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fr-FR" sz="2000" b="0" dirty="0"/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Entreprise industrielle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Consommation électricité + gaz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Choix du type de contrat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Objectif : limiter le risque</a:t>
            </a:r>
            <a:endParaRPr lang="fr-FR" altLang="fr-FR" sz="2000" b="0" dirty="0">
              <a:solidFill>
                <a:srgbClr val="56436A"/>
              </a:solidFill>
              <a:latin typeface="Arial" panose="020B060402020202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C30C85-D8C1-05BC-F87B-9F9AAAAF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8196" name="Picture 4" descr="Exemple concret du Processus de Travail: Découvrez notre guide complet! · [  2026 ]">
            <a:extLst>
              <a:ext uri="{FF2B5EF4-FFF2-40B4-BE49-F238E27FC236}">
                <a16:creationId xmlns:a16="http://schemas.microsoft.com/office/drawing/2014/main" id="{1B656565-4133-9F29-E98C-F20650F9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30172"/>
            <a:ext cx="658177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2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79" y="321461"/>
            <a:ext cx="8459343" cy="2875237"/>
          </a:xfrm>
        </p:spPr>
        <p:txBody>
          <a:bodyPr/>
          <a:lstStyle/>
          <a:p>
            <a:r>
              <a:rPr lang="fr-FR" sz="5400" dirty="0"/>
              <a:t>Synthèse du cours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80E280B-57E9-C6A3-2BFB-8AD9D4AC9141}"/>
              </a:ext>
            </a:extLst>
          </p:cNvPr>
          <p:cNvSpPr/>
          <p:nvPr/>
        </p:nvSpPr>
        <p:spPr>
          <a:xfrm>
            <a:off x="1507089" y="1212220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30" descr="Coche">
            <a:extLst>
              <a:ext uri="{FF2B5EF4-FFF2-40B4-BE49-F238E27FC236}">
                <a16:creationId xmlns:a16="http://schemas.microsoft.com/office/drawing/2014/main" id="{F253E144-CAE4-0936-6090-66E8267B5434}"/>
              </a:ext>
            </a:extLst>
          </p:cNvPr>
          <p:cNvSpPr/>
          <p:nvPr/>
        </p:nvSpPr>
        <p:spPr>
          <a:xfrm>
            <a:off x="1857941" y="1473185"/>
            <a:ext cx="637913" cy="637913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18F675B-E1BC-9944-0DF6-9452204E5963}"/>
              </a:ext>
            </a:extLst>
          </p:cNvPr>
          <p:cNvGrpSpPr/>
          <p:nvPr/>
        </p:nvGrpSpPr>
        <p:grpSpPr>
          <a:xfrm>
            <a:off x="2846707" y="1212220"/>
            <a:ext cx="5024605" cy="1159843"/>
            <a:chOff x="1339618" y="2288"/>
            <a:chExt cx="5024605" cy="115984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D36455-0DFD-F88E-5D57-E8548E176582}"/>
                </a:ext>
              </a:extLst>
            </p:cNvPr>
            <p:cNvSpPr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0F676B3-5EA2-B4CA-83CE-D4C75ACDBD5F}"/>
                </a:ext>
              </a:extLst>
            </p:cNvPr>
            <p:cNvSpPr txBox="1"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Acheter de l’énergie = décider</a:t>
              </a:r>
              <a:endParaRPr lang="en-US" sz="2200" kern="1200" dirty="0"/>
            </a:p>
          </p:txBody>
        </p:sp>
      </p:grp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99FD09D-7FEF-D5F3-7A5B-A0AA2338D973}"/>
              </a:ext>
            </a:extLst>
          </p:cNvPr>
          <p:cNvSpPr/>
          <p:nvPr/>
        </p:nvSpPr>
        <p:spPr>
          <a:xfrm>
            <a:off x="1507089" y="2662024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4" name="Rectangle 33" descr="Pièces">
            <a:extLst>
              <a:ext uri="{FF2B5EF4-FFF2-40B4-BE49-F238E27FC236}">
                <a16:creationId xmlns:a16="http://schemas.microsoft.com/office/drawing/2014/main" id="{88E5EF2E-D34D-B236-1051-AD99A3347B33}"/>
              </a:ext>
            </a:extLst>
          </p:cNvPr>
          <p:cNvSpPr/>
          <p:nvPr/>
        </p:nvSpPr>
        <p:spPr>
          <a:xfrm>
            <a:off x="1857941" y="2922989"/>
            <a:ext cx="637913" cy="637913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3824F7F-84DF-1C37-F3D7-3DBBCF17ABA0}"/>
              </a:ext>
            </a:extLst>
          </p:cNvPr>
          <p:cNvGrpSpPr/>
          <p:nvPr/>
        </p:nvGrpSpPr>
        <p:grpSpPr>
          <a:xfrm>
            <a:off x="2846707" y="2662024"/>
            <a:ext cx="5024605" cy="1159843"/>
            <a:chOff x="1339618" y="1452092"/>
            <a:chExt cx="5024605" cy="11598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49C5F9-DB00-2253-E7BC-977008287B18}"/>
                </a:ext>
              </a:extLst>
            </p:cNvPr>
            <p:cNvSpPr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9A4A389-C04F-9E38-9A74-28003DD86087}"/>
                </a:ext>
              </a:extLst>
            </p:cNvPr>
            <p:cNvSpPr txBox="1"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Le risque fait partie du marché</a:t>
              </a:r>
              <a:endParaRPr lang="en-US" sz="2200" kern="1200" dirty="0"/>
            </a:p>
          </p:txBody>
        </p:sp>
      </p:grp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D9728C7-FF5A-5574-5D1B-D03EB443D7DF}"/>
              </a:ext>
            </a:extLst>
          </p:cNvPr>
          <p:cNvSpPr/>
          <p:nvPr/>
        </p:nvSpPr>
        <p:spPr>
          <a:xfrm>
            <a:off x="1507089" y="4111828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7" name="Rectangle 36" descr="Camion">
            <a:extLst>
              <a:ext uri="{FF2B5EF4-FFF2-40B4-BE49-F238E27FC236}">
                <a16:creationId xmlns:a16="http://schemas.microsoft.com/office/drawing/2014/main" id="{36B53E18-362C-6560-04E8-72F4F3655B66}"/>
              </a:ext>
            </a:extLst>
          </p:cNvPr>
          <p:cNvSpPr/>
          <p:nvPr/>
        </p:nvSpPr>
        <p:spPr>
          <a:xfrm>
            <a:off x="1857941" y="4372793"/>
            <a:ext cx="637913" cy="637913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9FDF254-5380-F9C7-900D-F3A615182707}"/>
              </a:ext>
            </a:extLst>
          </p:cNvPr>
          <p:cNvGrpSpPr/>
          <p:nvPr/>
        </p:nvGrpSpPr>
        <p:grpSpPr>
          <a:xfrm>
            <a:off x="2846707" y="4196602"/>
            <a:ext cx="5024605" cy="1159843"/>
            <a:chOff x="1339618" y="2901896"/>
            <a:chExt cx="5024605" cy="11598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C297DB1-B599-6CE9-33EB-38E447FD0DE6}"/>
                </a:ext>
              </a:extLst>
            </p:cNvPr>
            <p:cNvSpPr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73CCE56-0276-E8EC-CA2F-B654D73A61D9}"/>
                </a:ext>
              </a:extLst>
            </p:cNvPr>
            <p:cNvSpPr txBox="1"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Il doit être compris et maîtrisé</a:t>
              </a:r>
              <a:endParaRPr lang="en-US" sz="2200" kern="1200" dirty="0"/>
            </a:p>
          </p:txBody>
        </p:sp>
      </p:grp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5E7090-EA94-5679-78BC-1ADE540D456A}"/>
              </a:ext>
            </a:extLst>
          </p:cNvPr>
          <p:cNvSpPr/>
          <p:nvPr/>
        </p:nvSpPr>
        <p:spPr>
          <a:xfrm>
            <a:off x="1507089" y="5561632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40" name="Rectangle 39" descr="Voiture">
            <a:extLst>
              <a:ext uri="{FF2B5EF4-FFF2-40B4-BE49-F238E27FC236}">
                <a16:creationId xmlns:a16="http://schemas.microsoft.com/office/drawing/2014/main" id="{4560BCB2-958D-9C2D-7F53-F0F429114FE9}"/>
              </a:ext>
            </a:extLst>
          </p:cNvPr>
          <p:cNvSpPr/>
          <p:nvPr/>
        </p:nvSpPr>
        <p:spPr>
          <a:xfrm>
            <a:off x="1857941" y="5822597"/>
            <a:ext cx="637913" cy="637913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5103A958-8D7E-822D-0020-2939AB6071FA}"/>
              </a:ext>
            </a:extLst>
          </p:cNvPr>
          <p:cNvGrpSpPr/>
          <p:nvPr/>
        </p:nvGrpSpPr>
        <p:grpSpPr>
          <a:xfrm>
            <a:off x="2846707" y="5476858"/>
            <a:ext cx="5127844" cy="1244617"/>
            <a:chOff x="1339618" y="4266926"/>
            <a:chExt cx="5127844" cy="124461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37033B-0A44-4CAC-3DE3-FE738A81C22E}"/>
                </a:ext>
              </a:extLst>
            </p:cNvPr>
            <p:cNvSpPr/>
            <p:nvPr/>
          </p:nvSpPr>
          <p:spPr>
            <a:xfrm>
              <a:off x="1339618" y="4351700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D45D37C-3F3E-826E-DFA4-D99C00A802AE}"/>
                </a:ext>
              </a:extLst>
            </p:cNvPr>
            <p:cNvSpPr txBox="1"/>
            <p:nvPr/>
          </p:nvSpPr>
          <p:spPr>
            <a:xfrm>
              <a:off x="1442857" y="426692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La stratégie dépend du profil</a:t>
              </a:r>
              <a:endParaRPr lang="en-US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7C9201-7F50-1E56-62B2-AD90D8ED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35" y="1328932"/>
            <a:ext cx="11194929" cy="46465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7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Une entreprise industrielle consomme 2 000 MWh/an d’électricité et 1 500 MWh/an de gaz.</a:t>
            </a:r>
            <a:br>
              <a:rPr lang="fr-FR" dirty="0"/>
            </a:br>
            <a:r>
              <a:rPr lang="fr-FR" dirty="0"/>
              <a:t>Les marchés de l’énergie sont volatils et la consommation peut varier de ± 10 % selon l’activité.</a:t>
            </a:r>
          </a:p>
          <a:p>
            <a:r>
              <a:rPr lang="fr-FR" dirty="0"/>
              <a:t>Deux offres sont proposées par un fournisseur :</a:t>
            </a:r>
          </a:p>
          <a:p>
            <a:pPr lvl="0"/>
            <a:r>
              <a:rPr lang="fr-FR" dirty="0"/>
              <a:t>Contrat à prix fixe (3 ans)</a:t>
            </a:r>
          </a:p>
          <a:p>
            <a:pPr lvl="1"/>
            <a:r>
              <a:rPr lang="fr-FR" sz="1800" dirty="0"/>
              <a:t>Électricité : 120 €/MWh</a:t>
            </a:r>
          </a:p>
          <a:p>
            <a:pPr lvl="1"/>
            <a:r>
              <a:rPr lang="fr-FR" sz="1800" dirty="0"/>
              <a:t>Gaz : 50 €/MWh</a:t>
            </a:r>
          </a:p>
          <a:p>
            <a:pPr lvl="0"/>
            <a:r>
              <a:rPr lang="fr-FR" dirty="0"/>
              <a:t>Contrat à prix indexé</a:t>
            </a:r>
          </a:p>
          <a:p>
            <a:pPr lvl="1"/>
            <a:r>
              <a:rPr lang="fr-FR" sz="1800" dirty="0"/>
              <a:t>Prix de l’électricité et du gaz indexés sur les marchés</a:t>
            </a:r>
          </a:p>
          <a:p>
            <a:r>
              <a:rPr lang="fr-FR" dirty="0"/>
              <a:t> </a:t>
            </a:r>
          </a:p>
          <a:p>
            <a:r>
              <a:rPr lang="fr-FR" dirty="0"/>
              <a:t>Travail demandé :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Identifier les principaux risques auxquels l’entreprise est exposée.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Comparer les contrats à prix fixe et à prix indexé en termes de risque et de visibilité budgétaire.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Proposer une stratégie d’achat adaptée pour l’électricité et le gaz.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Justifier la stratégie choisie.</a:t>
            </a:r>
          </a:p>
        </p:txBody>
      </p:sp>
    </p:spTree>
    <p:extLst>
      <p:ext uri="{BB962C8B-B14F-4D97-AF65-F5344CB8AC3E}">
        <p14:creationId xmlns:p14="http://schemas.microsoft.com/office/powerpoint/2010/main" val="45363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031678-73AD-0FFB-DC37-5BE8FDFD3CC9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1 : Identifier les principaux risques</a:t>
            </a:r>
          </a:p>
          <a:p>
            <a:r>
              <a:rPr lang="fr-FR" dirty="0"/>
              <a:t>L’entreprise est exposée à plusieurs risques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prix : les prix de l’électricité et du gaz peuvent fortement augmenter sur les marchés, ce qui impacterait directement le budget énergétique.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volume : la consommation réelle peut être différente de la consommation prévue (± 10 %), notamment en fonction du niveau d’activité.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contractuel : un contrat mal adapté peut limiter la flexibilité ou entraîner des pénalités.</a:t>
            </a:r>
          </a:p>
        </p:txBody>
      </p:sp>
    </p:spTree>
    <p:extLst>
      <p:ext uri="{BB962C8B-B14F-4D97-AF65-F5344CB8AC3E}">
        <p14:creationId xmlns:p14="http://schemas.microsoft.com/office/powerpoint/2010/main" val="18254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7D33-DF34-BDF9-9DBE-A33E4201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966C9-F402-F97E-97A9-EC1C0367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73B650-885A-B8AF-706A-D4A3E16F00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816672-B38A-B163-0D01-16626473C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DAF809-47E4-4B89-DAAE-248328E9F29A}"/>
              </a:ext>
            </a:extLst>
          </p:cNvPr>
          <p:cNvSpPr txBox="1"/>
          <p:nvPr/>
        </p:nvSpPr>
        <p:spPr>
          <a:xfrm>
            <a:off x="523765" y="1783571"/>
            <a:ext cx="86803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2 : Comparer les contrats à prix fixe et à prix indexé</a:t>
            </a:r>
          </a:p>
          <a:p>
            <a:r>
              <a:rPr lang="fr-FR" dirty="0"/>
              <a:t>Le contrat à prix fixe offre une bonne visibilité budgétaire et protège contre une hausse des prix, mais ne permet pas de bénéficier d’une baisse des prix de marché.</a:t>
            </a:r>
          </a:p>
          <a:p>
            <a:r>
              <a:rPr lang="fr-FR" dirty="0"/>
              <a:t>Le contrat à prix indexé permet de profiter d’une baisse des prix, mais expose fortement l’entreprise à la volatilité des marchés et réduit la visibilité budgétaire.</a:t>
            </a:r>
          </a:p>
        </p:txBody>
      </p:sp>
    </p:spTree>
    <p:extLst>
      <p:ext uri="{BB962C8B-B14F-4D97-AF65-F5344CB8AC3E}">
        <p14:creationId xmlns:p14="http://schemas.microsoft.com/office/powerpoint/2010/main" val="39373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ABD6-B201-AF16-4D2A-D1AC03EA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10B-2D2A-C429-498B-7C37384C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958992-E355-16DC-4E58-9F3F18D100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986DC-B82D-DB23-ACC2-DF1D15140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6DA7F5-1C48-1FE5-B807-6F0AEF4F9BE4}"/>
              </a:ext>
            </a:extLst>
          </p:cNvPr>
          <p:cNvSpPr txBox="1"/>
          <p:nvPr/>
        </p:nvSpPr>
        <p:spPr>
          <a:xfrm>
            <a:off x="523765" y="1783571"/>
            <a:ext cx="868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3 : Proposer une stratégie d’achat adaptée</a:t>
            </a:r>
          </a:p>
          <a:p>
            <a:r>
              <a:rPr lang="fr-FR" dirty="0"/>
              <a:t>Une stratégie mixte est la plus pertinente.</a:t>
            </a:r>
            <a:br>
              <a:rPr lang="fr-FR" dirty="0"/>
            </a:br>
            <a:r>
              <a:rPr lang="fr-FR" dirty="0"/>
              <a:t>Elle consiste à sécuriser une partie des volumes d’électricité et de gaz à prix fixe et à laisser le reste indexé sur le marché.</a:t>
            </a:r>
          </a:p>
        </p:txBody>
      </p:sp>
    </p:spTree>
    <p:extLst>
      <p:ext uri="{BB962C8B-B14F-4D97-AF65-F5344CB8AC3E}">
        <p14:creationId xmlns:p14="http://schemas.microsoft.com/office/powerpoint/2010/main" val="4972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FCC9-0FAD-B89A-DF76-0E3805CC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C9698-33F4-175D-9C2A-A18397E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92D2EEA-EA54-BA8C-9606-4847A49E74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68198-CC9D-6DAE-4D6D-5E43C5A8F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CA1D18-E0E8-DAF9-BFF2-5D5A99C663DC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4 : Justifier la stratégie choisie</a:t>
            </a:r>
          </a:p>
          <a:p>
            <a:r>
              <a:rPr lang="fr-FR" dirty="0"/>
              <a:t>La stratégie mixte permet de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Limiter l’impact d’une hausse brutale des prix,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Conserver une certaine flexibilité,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Prendre en compte l’incertitude sur les volumes consommés,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S’adapter à un contexte de marchés volatils.</a:t>
            </a:r>
          </a:p>
          <a:p>
            <a:r>
              <a:rPr lang="fr-FR" dirty="0"/>
              <a:t>Elle représente un bon compromis entre sécurité et opportunité pour une entreprise industrielle.</a:t>
            </a:r>
          </a:p>
        </p:txBody>
      </p:sp>
    </p:spTree>
    <p:extLst>
      <p:ext uri="{BB962C8B-B14F-4D97-AF65-F5344CB8AC3E}">
        <p14:creationId xmlns:p14="http://schemas.microsoft.com/office/powerpoint/2010/main" val="134764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7202" y="4023145"/>
            <a:ext cx="10863272" cy="113840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i="1" dirty="0">
                <a:solidFill>
                  <a:schemeClr val="tx2"/>
                </a:solidFill>
              </a:rPr>
              <a:t>Merci d’avoir suivi l’ensemble du cursus sur le marché de l’énergie.</a:t>
            </a:r>
          </a:p>
          <a:p>
            <a:pPr algn="ctr"/>
            <a:r>
              <a:rPr lang="fr-FR" i="1" dirty="0">
                <a:solidFill>
                  <a:schemeClr val="tx2"/>
                </a:solidFill>
              </a:rPr>
              <a:t>Les modalités de validation finale et de certification vous seront communiquées ultérieurement par l’équipe pédagogique.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2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8" ma:contentTypeDescription="Create a new document." ma:contentTypeScope="" ma:versionID="e348059e6b5c72b87c1d92cf395591c7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fd32766545114afda025ef66fac702ab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4249CD-ACED-4D7C-93D6-85B52B7A2FAE}">
  <ds:schemaRefs>
    <ds:schemaRef ds:uri="http://purl.org/dc/terms/"/>
    <ds:schemaRef ds:uri="http://purl.org/dc/elements/1.1/"/>
    <ds:schemaRef ds:uri="657e7fb4-5038-4c53-afe4-01eaca43a1cf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d24fc02b-f8a1-4c49-8f09-7691813341f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E5CA11-1B27-4E17-9FE1-0D9278BCA17D}"/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Thème Junia</Template>
  <TotalTime>217</TotalTime>
  <Words>1551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1-COUVERTURE</vt:lpstr>
      <vt:lpstr>2-SOMMAIRE</vt:lpstr>
      <vt:lpstr>3.2-CHAPITRES EXTERNE</vt:lpstr>
      <vt:lpstr>4.1-Corpus INTERNE</vt:lpstr>
      <vt:lpstr>3.1-CHAPITRES INTERNE</vt:lpstr>
      <vt:lpstr>Thème Office</vt:lpstr>
      <vt:lpstr>5-Fin</vt:lpstr>
      <vt:lpstr>Comprendre le rôle de l’acheteur énergie Identifier les risques liés aux marchés Comparer les types de contrats Construire une stratégie d’achat adaptée</vt:lpstr>
      <vt:lpstr>rappels</vt:lpstr>
      <vt:lpstr>Rappel : marchés de l’électricité et du gaz </vt:lpstr>
      <vt:lpstr>Différences entre électricité et gaz</vt:lpstr>
      <vt:lpstr>Origine de la volatilité des prix</vt:lpstr>
      <vt:lpstr>Notion de risque énergétique</vt:lpstr>
      <vt:lpstr>Enjeux pour les entreprises</vt:lpstr>
      <vt:lpstr>Types de contrats d’achat</vt:lpstr>
      <vt:lpstr>Stratégies d’achat de l’énergie</vt:lpstr>
      <vt:lpstr>Gestion et maîtrise du risque</vt:lpstr>
      <vt:lpstr>Exemple concret</vt:lpstr>
      <vt:lpstr>Synthèse du cours</vt:lpstr>
      <vt:lpstr>Exercice </vt:lpstr>
      <vt:lpstr>CORRECTION </vt:lpstr>
      <vt:lpstr>CORRECTION </vt:lpstr>
      <vt:lpstr>CORRECTION </vt:lpstr>
      <vt:lpstr>CORRECTION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Timothé EVEILLARD</cp:lastModifiedBy>
  <cp:revision>12</cp:revision>
  <dcterms:created xsi:type="dcterms:W3CDTF">2025-10-20T13:43:34Z</dcterms:created>
  <dcterms:modified xsi:type="dcterms:W3CDTF">2026-01-11T12:34:02Z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